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70" r:id="rId3"/>
    <p:sldId id="281" r:id="rId4"/>
    <p:sldId id="282" r:id="rId5"/>
    <p:sldId id="283" r:id="rId6"/>
    <p:sldId id="284" r:id="rId7"/>
    <p:sldId id="278" r:id="rId8"/>
    <p:sldId id="258" r:id="rId9"/>
    <p:sldId id="264" r:id="rId10"/>
    <p:sldId id="288" r:id="rId11"/>
    <p:sldId id="265" r:id="rId12"/>
    <p:sldId id="285" r:id="rId13"/>
    <p:sldId id="266" r:id="rId14"/>
    <p:sldId id="289" r:id="rId15"/>
    <p:sldId id="267" r:id="rId16"/>
    <p:sldId id="268" r:id="rId17"/>
    <p:sldId id="279" r:id="rId18"/>
    <p:sldId id="290" r:id="rId19"/>
    <p:sldId id="272" r:id="rId20"/>
    <p:sldId id="271" r:id="rId21"/>
    <p:sldId id="291" r:id="rId22"/>
    <p:sldId id="292" r:id="rId23"/>
    <p:sldId id="297" r:id="rId24"/>
    <p:sldId id="273" r:id="rId25"/>
    <p:sldId id="294" r:id="rId26"/>
    <p:sldId id="275" r:id="rId27"/>
    <p:sldId id="276" r:id="rId28"/>
    <p:sldId id="277" r:id="rId29"/>
    <p:sldId id="295" r:id="rId30"/>
    <p:sldId id="296" r:id="rId3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1E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o DongJae" userId="c0585a8792a43ea6" providerId="LiveId" clId="{036BC434-BC24-4448-ABDB-CA0C7FED87F4}"/>
    <pc:docChg chg="modSld">
      <pc:chgData name="Seo DongJae" userId="c0585a8792a43ea6" providerId="LiveId" clId="{036BC434-BC24-4448-ABDB-CA0C7FED87F4}" dt="2021-02-22T15:41:48.236" v="7"/>
      <pc:docMkLst>
        <pc:docMk/>
      </pc:docMkLst>
      <pc:sldChg chg="modSp mod">
        <pc:chgData name="Seo DongJae" userId="c0585a8792a43ea6" providerId="LiveId" clId="{036BC434-BC24-4448-ABDB-CA0C7FED87F4}" dt="2021-02-22T15:40:48.499" v="0" actId="1076"/>
        <pc:sldMkLst>
          <pc:docMk/>
          <pc:sldMk cId="2658546913" sldId="270"/>
        </pc:sldMkLst>
        <pc:spChg chg="mod">
          <ac:chgData name="Seo DongJae" userId="c0585a8792a43ea6" providerId="LiveId" clId="{036BC434-BC24-4448-ABDB-CA0C7FED87F4}" dt="2021-02-22T15:40:48.499" v="0" actId="1076"/>
          <ac:spMkLst>
            <pc:docMk/>
            <pc:sldMk cId="2658546913" sldId="270"/>
            <ac:spMk id="8" creationId="{8B68B5AB-9E5F-423D-B060-0341EBADF3AB}"/>
          </ac:spMkLst>
        </pc:spChg>
        <pc:spChg chg="mod">
          <ac:chgData name="Seo DongJae" userId="c0585a8792a43ea6" providerId="LiveId" clId="{036BC434-BC24-4448-ABDB-CA0C7FED87F4}" dt="2021-02-22T15:40:48.499" v="0" actId="1076"/>
          <ac:spMkLst>
            <pc:docMk/>
            <pc:sldMk cId="2658546913" sldId="270"/>
            <ac:spMk id="9" creationId="{C04BD793-73AD-4BB0-B0E1-82DC40CCDA03}"/>
          </ac:spMkLst>
        </pc:spChg>
        <pc:spChg chg="mod">
          <ac:chgData name="Seo DongJae" userId="c0585a8792a43ea6" providerId="LiveId" clId="{036BC434-BC24-4448-ABDB-CA0C7FED87F4}" dt="2021-02-22T15:40:48.499" v="0" actId="1076"/>
          <ac:spMkLst>
            <pc:docMk/>
            <pc:sldMk cId="2658546913" sldId="270"/>
            <ac:spMk id="11" creationId="{66A68697-86A2-48B3-8870-782855338118}"/>
          </ac:spMkLst>
        </pc:spChg>
        <pc:spChg chg="mod">
          <ac:chgData name="Seo DongJae" userId="c0585a8792a43ea6" providerId="LiveId" clId="{036BC434-BC24-4448-ABDB-CA0C7FED87F4}" dt="2021-02-22T15:40:48.499" v="0" actId="1076"/>
          <ac:spMkLst>
            <pc:docMk/>
            <pc:sldMk cId="2658546913" sldId="270"/>
            <ac:spMk id="12" creationId="{90D61A50-FCB5-48D9-9B3B-9F13C6B63A02}"/>
          </ac:spMkLst>
        </pc:spChg>
        <pc:spChg chg="mod">
          <ac:chgData name="Seo DongJae" userId="c0585a8792a43ea6" providerId="LiveId" clId="{036BC434-BC24-4448-ABDB-CA0C7FED87F4}" dt="2021-02-22T15:40:48.499" v="0" actId="1076"/>
          <ac:spMkLst>
            <pc:docMk/>
            <pc:sldMk cId="2658546913" sldId="270"/>
            <ac:spMk id="13" creationId="{77342CC7-546F-4EF4-A513-7B2315A1786D}"/>
          </ac:spMkLst>
        </pc:spChg>
        <pc:spChg chg="mod">
          <ac:chgData name="Seo DongJae" userId="c0585a8792a43ea6" providerId="LiveId" clId="{036BC434-BC24-4448-ABDB-CA0C7FED87F4}" dt="2021-02-22T15:40:48.499" v="0" actId="1076"/>
          <ac:spMkLst>
            <pc:docMk/>
            <pc:sldMk cId="2658546913" sldId="270"/>
            <ac:spMk id="14" creationId="{9D211B15-1D8F-4F68-AD6A-FCFE622E4AF3}"/>
          </ac:spMkLst>
        </pc:spChg>
        <pc:spChg chg="mod">
          <ac:chgData name="Seo DongJae" userId="c0585a8792a43ea6" providerId="LiveId" clId="{036BC434-BC24-4448-ABDB-CA0C7FED87F4}" dt="2021-02-22T15:40:48.499" v="0" actId="1076"/>
          <ac:spMkLst>
            <pc:docMk/>
            <pc:sldMk cId="2658546913" sldId="270"/>
            <ac:spMk id="15" creationId="{1286C94D-1DEC-4DB6-AE84-BB4BFB5EA9ED}"/>
          </ac:spMkLst>
        </pc:spChg>
        <pc:spChg chg="mod">
          <ac:chgData name="Seo DongJae" userId="c0585a8792a43ea6" providerId="LiveId" clId="{036BC434-BC24-4448-ABDB-CA0C7FED87F4}" dt="2021-02-22T15:40:48.499" v="0" actId="1076"/>
          <ac:spMkLst>
            <pc:docMk/>
            <pc:sldMk cId="2658546913" sldId="270"/>
            <ac:spMk id="16" creationId="{DDD04ACA-181C-4E1F-8C11-938732F09B41}"/>
          </ac:spMkLst>
        </pc:spChg>
        <pc:spChg chg="mod">
          <ac:chgData name="Seo DongJae" userId="c0585a8792a43ea6" providerId="LiveId" clId="{036BC434-BC24-4448-ABDB-CA0C7FED87F4}" dt="2021-02-22T15:40:48.499" v="0" actId="1076"/>
          <ac:spMkLst>
            <pc:docMk/>
            <pc:sldMk cId="2658546913" sldId="270"/>
            <ac:spMk id="17" creationId="{D9F0ACF9-9969-4E34-BB8A-3520512EBF2E}"/>
          </ac:spMkLst>
        </pc:spChg>
        <pc:spChg chg="mod">
          <ac:chgData name="Seo DongJae" userId="c0585a8792a43ea6" providerId="LiveId" clId="{036BC434-BC24-4448-ABDB-CA0C7FED87F4}" dt="2021-02-22T15:40:48.499" v="0" actId="1076"/>
          <ac:spMkLst>
            <pc:docMk/>
            <pc:sldMk cId="2658546913" sldId="270"/>
            <ac:spMk id="18" creationId="{CB01826E-D17B-452E-9952-B6FA49468439}"/>
          </ac:spMkLst>
        </pc:spChg>
        <pc:cxnChg chg="mod">
          <ac:chgData name="Seo DongJae" userId="c0585a8792a43ea6" providerId="LiveId" clId="{036BC434-BC24-4448-ABDB-CA0C7FED87F4}" dt="2021-02-22T15:40:48.499" v="0" actId="1076"/>
          <ac:cxnSpMkLst>
            <pc:docMk/>
            <pc:sldMk cId="2658546913" sldId="270"/>
            <ac:cxnSpMk id="6" creationId="{9EA685C9-5B45-40C6-AC9A-DFFF068266EA}"/>
          </ac:cxnSpMkLst>
        </pc:cxnChg>
      </pc:sldChg>
      <pc:sldChg chg="modSp mod">
        <pc:chgData name="Seo DongJae" userId="c0585a8792a43ea6" providerId="LiveId" clId="{036BC434-BC24-4448-ABDB-CA0C7FED87F4}" dt="2021-02-22T15:41:48.236" v="7"/>
        <pc:sldMkLst>
          <pc:docMk/>
          <pc:sldMk cId="578458574" sldId="281"/>
        </pc:sldMkLst>
        <pc:spChg chg="mod">
          <ac:chgData name="Seo DongJae" userId="c0585a8792a43ea6" providerId="LiveId" clId="{036BC434-BC24-4448-ABDB-CA0C7FED87F4}" dt="2021-02-22T15:41:48.236" v="7"/>
          <ac:spMkLst>
            <pc:docMk/>
            <pc:sldMk cId="578458574" sldId="281"/>
            <ac:spMk id="2" creationId="{B3F96B9A-23A8-443B-85AC-CDC4077CD60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CA1178-030D-415D-8F81-112E55DB8A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A0ECD56-86F3-442F-B33F-6E08564A73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84F998-DAA7-4E7E-B671-AFF07ED2A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46985-E5F8-4D3D-B997-12B666AA6233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DB7CD7-86A6-4C3B-9BBC-E8CC286E2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10C6A4-89F2-4A38-A2E4-F306DA705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6E4F1-4B46-4445-B4EB-E95A96C7E8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5009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D5DAC2-79E0-49DA-8ECA-4DC940747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8D5949-5DAE-40D5-80FA-F74776AC0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373E6F-DC79-412C-ABCD-8F09C5FF7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46985-E5F8-4D3D-B997-12B666AA6233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4A2330-6A04-4CFE-B1DF-AEFED8AF8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73CDE6-48F4-486A-B967-EF5146985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6E4F1-4B46-4445-B4EB-E95A96C7E8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953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FB07DB-D579-4F56-B5FD-79B52FC0D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9371081-610F-4C1A-BB28-337674AF67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57976D-364C-4A57-996F-6BE5CAFB5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46985-E5F8-4D3D-B997-12B666AA6233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52A586-1784-4CF3-B1C9-B73A6BFF3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3CD5DC-E5DC-4B0D-811E-2F2C441F1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6E4F1-4B46-4445-B4EB-E95A96C7E8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4629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859411-4CB9-46A8-9C1D-9491D11CF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6BA137-E347-426B-BEFB-9AB72A847E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99FAA4-92BB-4800-A6DC-BD078EFAA3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4120AF-6B4C-4CBE-97B7-C4F445E52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46985-E5F8-4D3D-B997-12B666AA6233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F046E6-DF93-480C-935B-D0B60E5BC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D1278C-277F-454F-B2BF-7157AA91D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6E4F1-4B46-4445-B4EB-E95A96C7E8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6278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ADC195-142A-4586-9406-783AC6FC9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9B50BC-BD3C-47C9-860A-9D2162809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4AC38A0-E403-4EAD-A34E-3B86580469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9BFE0BE-14FA-43CA-AA62-148BCAA551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E631C6F-C275-4413-9C0D-AE4E171E21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212A2B9-7351-4AFB-9DE1-7ACD4B584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46985-E5F8-4D3D-B997-12B666AA6233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985CE92-6F5C-4233-9836-A38111BDE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360001C-4855-46FB-A12E-A4E049061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6E4F1-4B46-4445-B4EB-E95A96C7E8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8496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B2B393-AA09-4172-84A2-FA675DBB3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DFA4EA-7160-4453-8CB2-C6F34C2D1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46985-E5F8-4D3D-B997-12B666AA6233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6C15122-7618-4C59-BADB-A5D5B0BA7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9277C67-5E39-4ACC-BFA8-E78DEB3B9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6E4F1-4B46-4445-B4EB-E95A96C7E8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510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83185F9-898C-4602-A855-5403DEE9E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46985-E5F8-4D3D-B997-12B666AA6233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F6BEDD8-0BDE-46D5-A741-18EF4EBE9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E40852-A723-4C8C-8F02-3730CFFBC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6E4F1-4B46-4445-B4EB-E95A96C7E8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5944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443A0B-D416-4B4A-B401-8C18D175D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844183-CA59-47C6-93A6-FF29C9A46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DF874EA-3914-4475-A787-3DF55B3854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64179BF-83EB-4C63-8A26-07DA46788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46985-E5F8-4D3D-B997-12B666AA6233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56F9F2F-6FAB-4C4D-89B8-512C7D767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D1166C4-4F8B-42C7-B494-313DB7FF9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6E4F1-4B46-4445-B4EB-E95A96C7E8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2715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19E49D-3453-42C9-ADD5-56177AA98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E25BFD7-0912-447C-AB45-EA5E83385C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B4B9B69-5F70-43E0-B0E6-EDEB0DD1C5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47F1E1B-4E4B-405D-9592-E5EC59D58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46985-E5F8-4D3D-B997-12B666AA6233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06C2C66-DA61-43DA-8C36-DC5898360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B175208-72DB-43CF-B2AB-1D94C1FAB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6E4F1-4B46-4445-B4EB-E95A96C7E8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1292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CBCAE8-D4B8-4C8F-A7F1-70B764860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ED2F311-B06C-4943-8F5A-1946682E37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121B7D-AB3E-4A32-86D9-25B6BA685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46985-E5F8-4D3D-B997-12B666AA6233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0E0F3A-BAF8-4746-9716-E0402BF1C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8CD568-E245-43AF-AD63-58BD6CE8E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6E4F1-4B46-4445-B4EB-E95A96C7E8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0140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8659C1C-0B0F-4D3E-9073-9CAB62D921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E31DF47-12DC-42F0-AC20-40EF0A71FE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43B432-6D2A-4FA3-ACB9-D49A38AB6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46985-E5F8-4D3D-B997-12B666AA6233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8C4A2B-016E-4903-9B8D-5B1663876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C0E71E-F7E7-465A-A106-908F611C0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6E4F1-4B46-4445-B4EB-E95A96C7E8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3072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03B832-4151-419A-A5D8-3A783BC78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FBE49B-6B9E-40A9-B9E2-45A7E8B556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CD0BB1-D6B2-46EE-84C9-94CF0B0D5A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246985-E5F8-4D3D-B997-12B666AA6233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8147DA-C5A5-4423-ADDE-C2B19AB47C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761D04-7FA5-4D8E-A721-BECF546C7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06E4F1-4B46-4445-B4EB-E95A96C7E8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7217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CC81527-22CA-4BD7-8297-89F187FD0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738185"/>
            <a:ext cx="10515600" cy="2399270"/>
          </a:xfrm>
        </p:spPr>
        <p:txBody>
          <a:bodyPr>
            <a:normAutofit/>
          </a:bodyPr>
          <a:lstStyle/>
          <a:p>
            <a:pPr algn="ctr"/>
            <a:r>
              <a:rPr lang="en-US" altLang="ko-KR" sz="6000" dirty="0">
                <a:solidFill>
                  <a:schemeClr val="bg1">
                    <a:lumMod val="95000"/>
                  </a:schemeClr>
                </a:solidFill>
              </a:rPr>
              <a:t>Image Caption</a:t>
            </a:r>
            <a:br>
              <a:rPr lang="en-US" altLang="ko-KR" sz="60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altLang="ko-KR" sz="6000" dirty="0">
                <a:solidFill>
                  <a:schemeClr val="bg1">
                    <a:lumMod val="95000"/>
                  </a:schemeClr>
                </a:solidFill>
              </a:rPr>
              <a:t>Generator</a:t>
            </a:r>
            <a:endParaRPr lang="ko-KR" altLang="en-US" sz="6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289118-04A6-4696-B83F-1E36886A9FE3}"/>
              </a:ext>
            </a:extLst>
          </p:cNvPr>
          <p:cNvSpPr txBox="1"/>
          <p:nvPr/>
        </p:nvSpPr>
        <p:spPr>
          <a:xfrm>
            <a:off x="4444313" y="4203358"/>
            <a:ext cx="33033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>
                    <a:lumMod val="95000"/>
                  </a:schemeClr>
                </a:solidFill>
              </a:rPr>
              <a:t>DongJae Seo</a:t>
            </a:r>
          </a:p>
        </p:txBody>
      </p:sp>
    </p:spTree>
    <p:extLst>
      <p:ext uri="{BB962C8B-B14F-4D97-AF65-F5344CB8AC3E}">
        <p14:creationId xmlns:p14="http://schemas.microsoft.com/office/powerpoint/2010/main" val="1729934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F96B9A-23A8-443B-85AC-CDC4077CD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62181"/>
          </a:xfrm>
          <a:solidFill>
            <a:schemeClr val="tx2">
              <a:lumMod val="75000"/>
            </a:schemeClr>
          </a:solidFill>
        </p:spPr>
        <p:txBody>
          <a:bodyPr lIns="288000" tIns="432000">
            <a:normAutofit/>
          </a:bodyPr>
          <a:lstStyle/>
          <a:p>
            <a:r>
              <a:rPr lang="en-US" altLang="ko-KR" sz="3600" dirty="0">
                <a:solidFill>
                  <a:schemeClr val="bg1">
                    <a:lumMod val="95000"/>
                  </a:schemeClr>
                </a:solidFill>
              </a:rPr>
              <a:t>Contents</a:t>
            </a:r>
            <a:endParaRPr lang="ko-KR" altLang="en-US" sz="3600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EA685C9-5B45-40C6-AC9A-DFFF068266EA}"/>
              </a:ext>
            </a:extLst>
          </p:cNvPr>
          <p:cNvCxnSpPr/>
          <p:nvPr/>
        </p:nvCxnSpPr>
        <p:spPr>
          <a:xfrm>
            <a:off x="457199" y="2092411"/>
            <a:ext cx="1115403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B68B5AB-9E5F-423D-B060-0341EBADF3AB}"/>
              </a:ext>
            </a:extLst>
          </p:cNvPr>
          <p:cNvSpPr txBox="1"/>
          <p:nvPr/>
        </p:nvSpPr>
        <p:spPr>
          <a:xfrm>
            <a:off x="248167" y="2501550"/>
            <a:ext cx="161049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주제 소개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아이디어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4BD793-73AD-4BB0-B0E1-82DC40CCDA03}"/>
              </a:ext>
            </a:extLst>
          </p:cNvPr>
          <p:cNvSpPr txBox="1"/>
          <p:nvPr/>
        </p:nvSpPr>
        <p:spPr>
          <a:xfrm>
            <a:off x="3925334" y="2502926"/>
            <a:ext cx="161049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데이터 구조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문자 </a:t>
            </a:r>
            <a:r>
              <a:rPr lang="ko-KR" altLang="en-US" sz="1400" dirty="0" err="1">
                <a:solidFill>
                  <a:schemeClr val="bg1"/>
                </a:solidFill>
              </a:rPr>
              <a:t>전처리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단어 반복횟수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Vocabulary</a:t>
            </a:r>
          </a:p>
          <a:p>
            <a:pPr algn="ctr"/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Zero padding</a:t>
            </a:r>
          </a:p>
          <a:p>
            <a:pPr algn="ctr"/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en-US" altLang="ko-KR" sz="1400" dirty="0" err="1">
                <a:solidFill>
                  <a:schemeClr val="bg1"/>
                </a:solidFill>
              </a:rPr>
              <a:t>GloVe</a:t>
            </a:r>
            <a:r>
              <a:rPr lang="en-US" altLang="ko-KR" sz="1400" dirty="0">
                <a:solidFill>
                  <a:schemeClr val="bg1"/>
                </a:solidFill>
              </a:rPr>
              <a:t> </a:t>
            </a:r>
            <a:r>
              <a:rPr lang="ko-KR" altLang="en-US" sz="1400" dirty="0">
                <a:solidFill>
                  <a:schemeClr val="bg1"/>
                </a:solidFill>
              </a:rPr>
              <a:t>를 통한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단어 </a:t>
            </a:r>
            <a:r>
              <a:rPr lang="en-US" altLang="ko-KR" sz="1400" dirty="0">
                <a:solidFill>
                  <a:schemeClr val="bg1"/>
                </a:solidFill>
              </a:rPr>
              <a:t>Embedding</a:t>
            </a:r>
          </a:p>
          <a:p>
            <a:pPr algn="ctr"/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이미지 </a:t>
            </a:r>
            <a:r>
              <a:rPr lang="ko-KR" altLang="en-US" sz="1400" dirty="0" err="1">
                <a:solidFill>
                  <a:schemeClr val="bg1"/>
                </a:solidFill>
              </a:rPr>
              <a:t>특성찾기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Data Generator</a:t>
            </a:r>
            <a:r>
              <a:rPr lang="ko-KR" altLang="en-US" sz="1400" dirty="0">
                <a:solidFill>
                  <a:schemeClr val="bg1"/>
                </a:solidFill>
              </a:rPr>
              <a:t> </a:t>
            </a:r>
            <a:endParaRPr lang="en-US" altLang="ko-KR" sz="14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A68697-86A2-48B3-8870-782855338118}"/>
              </a:ext>
            </a:extLst>
          </p:cNvPr>
          <p:cNvSpPr txBox="1"/>
          <p:nvPr/>
        </p:nvSpPr>
        <p:spPr>
          <a:xfrm>
            <a:off x="2045044" y="1656403"/>
            <a:ext cx="1610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사용 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D61A50-FCB5-48D9-9B3B-9F13C6B63A02}"/>
              </a:ext>
            </a:extLst>
          </p:cNvPr>
          <p:cNvSpPr txBox="1"/>
          <p:nvPr/>
        </p:nvSpPr>
        <p:spPr>
          <a:xfrm>
            <a:off x="248167" y="1653834"/>
            <a:ext cx="1610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주제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342CC7-546F-4EF4-A513-7B2315A1786D}"/>
              </a:ext>
            </a:extLst>
          </p:cNvPr>
          <p:cNvSpPr txBox="1"/>
          <p:nvPr/>
        </p:nvSpPr>
        <p:spPr>
          <a:xfrm>
            <a:off x="3956224" y="1656403"/>
            <a:ext cx="1610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데이터</a:t>
            </a:r>
            <a:endParaRPr lang="en-US" altLang="ko-KR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211B15-1D8F-4F68-AD6A-FCFE622E4AF3}"/>
              </a:ext>
            </a:extLst>
          </p:cNvPr>
          <p:cNvSpPr txBox="1"/>
          <p:nvPr/>
        </p:nvSpPr>
        <p:spPr>
          <a:xfrm>
            <a:off x="5791202" y="1656403"/>
            <a:ext cx="1610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모델</a:t>
            </a:r>
            <a:endParaRPr lang="en-US" altLang="ko-KR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86C94D-1DEC-4DB6-AE84-BB4BFB5EA9ED}"/>
              </a:ext>
            </a:extLst>
          </p:cNvPr>
          <p:cNvSpPr txBox="1"/>
          <p:nvPr/>
        </p:nvSpPr>
        <p:spPr>
          <a:xfrm>
            <a:off x="7549979" y="1656403"/>
            <a:ext cx="1610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예측</a:t>
            </a:r>
            <a:endParaRPr lang="en-US" altLang="ko-KR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D04ACA-181C-4E1F-8C11-938732F09B41}"/>
              </a:ext>
            </a:extLst>
          </p:cNvPr>
          <p:cNvSpPr txBox="1"/>
          <p:nvPr/>
        </p:nvSpPr>
        <p:spPr>
          <a:xfrm>
            <a:off x="9461159" y="1636760"/>
            <a:ext cx="1610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타임 테이블</a:t>
            </a:r>
            <a:endParaRPr lang="en-US" altLang="ko-KR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F0ACF9-9969-4E34-BB8A-3520512EBF2E}"/>
              </a:ext>
            </a:extLst>
          </p:cNvPr>
          <p:cNvSpPr txBox="1"/>
          <p:nvPr/>
        </p:nvSpPr>
        <p:spPr>
          <a:xfrm>
            <a:off x="5791202" y="2502926"/>
            <a:ext cx="161049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모델 구조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Summary</a:t>
            </a:r>
          </a:p>
          <a:p>
            <a:pPr algn="ctr"/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파라미터 튜닝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훈련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endParaRPr lang="en-US" altLang="ko-KR" sz="1400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01826E-D17B-452E-9952-B6FA49468439}"/>
              </a:ext>
            </a:extLst>
          </p:cNvPr>
          <p:cNvSpPr txBox="1"/>
          <p:nvPr/>
        </p:nvSpPr>
        <p:spPr>
          <a:xfrm>
            <a:off x="7549979" y="2502926"/>
            <a:ext cx="161049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예측의 종류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Greedy Search</a:t>
            </a:r>
          </a:p>
          <a:p>
            <a:pPr algn="ctr"/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Beam Search</a:t>
            </a:r>
          </a:p>
          <a:p>
            <a:pPr algn="ctr"/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예측 결과</a:t>
            </a:r>
            <a:endParaRPr lang="en-US" altLang="ko-KR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8546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F96B9A-23A8-443B-85AC-CDC4077CD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0338"/>
            <a:ext cx="12192000" cy="1132519"/>
          </a:xfrm>
          <a:solidFill>
            <a:schemeClr val="tx2">
              <a:lumMod val="75000"/>
            </a:schemeClr>
          </a:solidFill>
        </p:spPr>
        <p:txBody>
          <a:bodyPr lIns="288000" tIns="432000">
            <a:normAutofit/>
          </a:bodyPr>
          <a:lstStyle/>
          <a:p>
            <a:r>
              <a:rPr lang="ko-KR" altLang="en-US" sz="3600" dirty="0">
                <a:solidFill>
                  <a:schemeClr val="bg1">
                    <a:lumMod val="95000"/>
                  </a:schemeClr>
                </a:solidFill>
              </a:rPr>
              <a:t>주제 소개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921EC952-EC60-4200-A6D6-4C64F384C6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868" y="1532969"/>
            <a:ext cx="5425086" cy="48584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AD9F97-F60D-4C58-888E-DBFF1AFDE596}"/>
              </a:ext>
            </a:extLst>
          </p:cNvPr>
          <p:cNvSpPr txBox="1"/>
          <p:nvPr/>
        </p:nvSpPr>
        <p:spPr>
          <a:xfrm>
            <a:off x="7249299" y="3429000"/>
            <a:ext cx="38388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>
                <a:solidFill>
                  <a:schemeClr val="bg1"/>
                </a:solidFill>
              </a:rPr>
              <a:t>사진을 설명해주는 </a:t>
            </a:r>
            <a:endParaRPr lang="en-US" altLang="ko-KR" sz="2800" dirty="0">
              <a:solidFill>
                <a:schemeClr val="bg1"/>
              </a:solidFill>
            </a:endParaRPr>
          </a:p>
          <a:p>
            <a:pPr algn="ctr"/>
            <a:r>
              <a:rPr lang="ko-KR" altLang="en-US" sz="2800" dirty="0">
                <a:solidFill>
                  <a:schemeClr val="bg1"/>
                </a:solidFill>
              </a:rPr>
              <a:t>문장 만들기</a:t>
            </a:r>
            <a:r>
              <a:rPr lang="en-US" altLang="ko-KR" sz="2800" dirty="0">
                <a:solidFill>
                  <a:schemeClr val="bg1"/>
                </a:solidFill>
              </a:rPr>
              <a:t>!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458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F96B9A-23A8-443B-85AC-CDC4077CD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0338"/>
            <a:ext cx="12192000" cy="1132519"/>
          </a:xfrm>
          <a:solidFill>
            <a:schemeClr val="tx2">
              <a:lumMod val="75000"/>
            </a:schemeClr>
          </a:solidFill>
        </p:spPr>
        <p:txBody>
          <a:bodyPr lIns="288000" tIns="432000">
            <a:normAutofit/>
          </a:bodyPr>
          <a:lstStyle/>
          <a:p>
            <a:r>
              <a:rPr lang="ko-KR" altLang="en-US" sz="3600" dirty="0">
                <a:solidFill>
                  <a:schemeClr val="bg1">
                    <a:lumMod val="95000"/>
                  </a:schemeClr>
                </a:solidFill>
              </a:rPr>
              <a:t>주제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B628F6F-2DB2-4836-A751-DAA0C72D1A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836" y="1819127"/>
            <a:ext cx="7184327" cy="43340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F80377-18F1-4F92-A4BE-B141DCBFCE9D}"/>
              </a:ext>
            </a:extLst>
          </p:cNvPr>
          <p:cNvSpPr txBox="1"/>
          <p:nvPr/>
        </p:nvSpPr>
        <p:spPr>
          <a:xfrm>
            <a:off x="7024094" y="2028824"/>
            <a:ext cx="2652584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    I</a:t>
            </a:r>
            <a:r>
              <a:rPr lang="ko-KR" altLang="en-US" sz="2400" dirty="0"/>
              <a:t> </a:t>
            </a:r>
            <a:r>
              <a:rPr lang="en-US" altLang="ko-KR" sz="2400" dirty="0"/>
              <a:t>am a student</a:t>
            </a:r>
            <a:endParaRPr lang="ko-KR" alt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3B703C-69A8-4365-9EAE-991C79978831}"/>
              </a:ext>
            </a:extLst>
          </p:cNvPr>
          <p:cNvSpPr txBox="1"/>
          <p:nvPr/>
        </p:nvSpPr>
        <p:spPr>
          <a:xfrm>
            <a:off x="2594918" y="1890325"/>
            <a:ext cx="3262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Machine Translation - </a:t>
            </a:r>
            <a:r>
              <a:rPr lang="ko-KR" altLang="en-US" dirty="0"/>
              <a:t>번역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9D0ADC-CB91-4C99-A04C-D025D4D9BC14}"/>
              </a:ext>
            </a:extLst>
          </p:cNvPr>
          <p:cNvSpPr txBox="1"/>
          <p:nvPr/>
        </p:nvSpPr>
        <p:spPr>
          <a:xfrm>
            <a:off x="4769707" y="5125480"/>
            <a:ext cx="2652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[0.1, 0.2, 0.1, 0.3, … 0.7]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5E4308-76CC-4E2B-A7E6-F86DBEEA84D3}"/>
              </a:ext>
            </a:extLst>
          </p:cNvPr>
          <p:cNvSpPr txBox="1"/>
          <p:nvPr/>
        </p:nvSpPr>
        <p:spPr>
          <a:xfrm>
            <a:off x="2594918" y="5733535"/>
            <a:ext cx="2520779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저는 학생입니다</a:t>
            </a:r>
          </a:p>
        </p:txBody>
      </p:sp>
    </p:spTree>
    <p:extLst>
      <p:ext uri="{BB962C8B-B14F-4D97-AF65-F5344CB8AC3E}">
        <p14:creationId xmlns:p14="http://schemas.microsoft.com/office/powerpoint/2010/main" val="751338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F96B9A-23A8-443B-85AC-CDC4077CD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0338"/>
            <a:ext cx="12192000" cy="1132519"/>
          </a:xfrm>
          <a:solidFill>
            <a:schemeClr val="tx2">
              <a:lumMod val="75000"/>
            </a:schemeClr>
          </a:solidFill>
        </p:spPr>
        <p:txBody>
          <a:bodyPr lIns="288000" tIns="432000">
            <a:normAutofit/>
          </a:bodyPr>
          <a:lstStyle/>
          <a:p>
            <a:r>
              <a:rPr lang="ko-KR" altLang="en-US" sz="3600" dirty="0">
                <a:solidFill>
                  <a:schemeClr val="bg1">
                    <a:lumMod val="95000"/>
                  </a:schemeClr>
                </a:solidFill>
              </a:rPr>
              <a:t>주제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B628F6F-2DB2-4836-A751-DAA0C72D1A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836" y="1819127"/>
            <a:ext cx="7184327" cy="43340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F80377-18F1-4F92-A4BE-B141DCBFCE9D}"/>
              </a:ext>
            </a:extLst>
          </p:cNvPr>
          <p:cNvSpPr txBox="1"/>
          <p:nvPr/>
        </p:nvSpPr>
        <p:spPr>
          <a:xfrm>
            <a:off x="6680886" y="2028825"/>
            <a:ext cx="300727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 Dog swims in pool</a:t>
            </a:r>
            <a:endParaRPr lang="ko-KR" altLang="en-US" sz="2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1CDCE50-7836-45BD-BCA5-7F557C1D088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7" t="13168" r="4370" b="32234"/>
          <a:stretch/>
        </p:blipFill>
        <p:spPr>
          <a:xfrm>
            <a:off x="2594918" y="5058032"/>
            <a:ext cx="2405450" cy="109511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F7C7BF3A-1A83-4F26-92A7-E5F0EBF2F27A}"/>
              </a:ext>
            </a:extLst>
          </p:cNvPr>
          <p:cNvSpPr/>
          <p:nvPr/>
        </p:nvSpPr>
        <p:spPr>
          <a:xfrm>
            <a:off x="2619632" y="2191265"/>
            <a:ext cx="2339546" cy="848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B66836-7F9D-4C13-BF8C-B2D74186C9C8}"/>
              </a:ext>
            </a:extLst>
          </p:cNvPr>
          <p:cNvSpPr txBox="1"/>
          <p:nvPr/>
        </p:nvSpPr>
        <p:spPr>
          <a:xfrm>
            <a:off x="4769707" y="5125480"/>
            <a:ext cx="2652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   [0.1, 0.2, 0.3, …0.7]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AE756D-0CE2-4763-835B-C1AC16824BFA}"/>
              </a:ext>
            </a:extLst>
          </p:cNvPr>
          <p:cNvSpPr txBox="1"/>
          <p:nvPr/>
        </p:nvSpPr>
        <p:spPr>
          <a:xfrm>
            <a:off x="2594918" y="1890325"/>
            <a:ext cx="3262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Image Captioning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9015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F96B9A-23A8-443B-85AC-CDC4077CD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0338"/>
            <a:ext cx="12192000" cy="1132519"/>
          </a:xfrm>
          <a:solidFill>
            <a:schemeClr val="tx2">
              <a:lumMod val="75000"/>
            </a:schemeClr>
          </a:solidFill>
        </p:spPr>
        <p:txBody>
          <a:bodyPr lIns="288000" tIns="432000">
            <a:normAutofit/>
          </a:bodyPr>
          <a:lstStyle/>
          <a:p>
            <a:r>
              <a:rPr lang="ko-KR" altLang="en-US" sz="3600" dirty="0">
                <a:solidFill>
                  <a:schemeClr val="bg1">
                    <a:lumMod val="95000"/>
                  </a:schemeClr>
                </a:solidFill>
              </a:rPr>
              <a:t>사용한 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6326AB-B92F-4A8C-A991-8FC8618BD48B}"/>
              </a:ext>
            </a:extLst>
          </p:cNvPr>
          <p:cNvSpPr txBox="1"/>
          <p:nvPr/>
        </p:nvSpPr>
        <p:spPr>
          <a:xfrm>
            <a:off x="502508" y="1367481"/>
            <a:ext cx="54534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Python,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Visual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Studio, Scikit learn,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en-US" altLang="ko-KR" dirty="0">
              <a:solidFill>
                <a:schemeClr val="bg1"/>
              </a:solidFill>
            </a:endParaRPr>
          </a:p>
          <a:p>
            <a:r>
              <a:rPr lang="en-US" altLang="ko-KR" dirty="0">
                <a:solidFill>
                  <a:schemeClr val="bg1"/>
                </a:solidFill>
              </a:rPr>
              <a:t>	</a:t>
            </a:r>
            <a:r>
              <a:rPr lang="en-US" altLang="ko-KR" dirty="0" err="1">
                <a:solidFill>
                  <a:schemeClr val="bg1"/>
                </a:solidFill>
              </a:rPr>
              <a:t>Tensorflow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en-US" altLang="ko-KR" dirty="0" err="1">
                <a:solidFill>
                  <a:schemeClr val="bg1"/>
                </a:solidFill>
              </a:rPr>
              <a:t>Keras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en-US" altLang="ko-KR" dirty="0" err="1">
                <a:solidFill>
                  <a:schemeClr val="bg1"/>
                </a:solidFill>
              </a:rPr>
              <a:t>Numpy</a:t>
            </a:r>
            <a:r>
              <a:rPr lang="en-US" altLang="ko-KR" dirty="0">
                <a:solidFill>
                  <a:schemeClr val="bg1"/>
                </a:solidFill>
              </a:rPr>
              <a:t>, matplotlib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79B5FD0B-81CB-44B4-BF7B-EAA6748B1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52" y="4812564"/>
            <a:ext cx="3831889" cy="153275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D651568-BBE3-4B45-886F-5788CDD1F8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420" y="2604824"/>
            <a:ext cx="1403908" cy="1403908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8630894-0EBF-41DC-825C-5F9980381B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773" y="4812564"/>
            <a:ext cx="2518719" cy="135591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C32BF69-F8E5-4B22-8D4C-AE3C4E2738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5957" y="2585451"/>
            <a:ext cx="1442653" cy="1442653"/>
          </a:xfrm>
          <a:prstGeom prst="rect">
            <a:avLst/>
          </a:prstGeom>
        </p:spPr>
      </p:pic>
      <p:pic>
        <p:nvPicPr>
          <p:cNvPr id="22" name="그래픽 21">
            <a:extLst>
              <a:ext uri="{FF2B5EF4-FFF2-40B4-BE49-F238E27FC236}">
                <a16:creationId xmlns:a16="http://schemas.microsoft.com/office/drawing/2014/main" id="{7270A45D-5981-4006-AF2B-0070508B21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06710" y="4995507"/>
            <a:ext cx="4125097" cy="990024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16DEA469-8914-47A7-B059-E2DCE68498D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256" y="2465224"/>
            <a:ext cx="2978318" cy="1489159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7C063FFE-F64F-4794-935B-075A1139B77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8231" y="2659173"/>
            <a:ext cx="1295210" cy="129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872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F96B9A-23A8-443B-85AC-CDC4077CD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0338"/>
            <a:ext cx="12192000" cy="1132519"/>
          </a:xfrm>
          <a:solidFill>
            <a:schemeClr val="tx2">
              <a:lumMod val="75000"/>
            </a:schemeClr>
          </a:solidFill>
        </p:spPr>
        <p:txBody>
          <a:bodyPr lIns="288000" tIns="432000">
            <a:normAutofit/>
          </a:bodyPr>
          <a:lstStyle/>
          <a:p>
            <a:r>
              <a:rPr lang="ko-KR" altLang="en-US" sz="3600" dirty="0">
                <a:solidFill>
                  <a:schemeClr val="bg1">
                    <a:lumMod val="95000"/>
                  </a:schemeClr>
                </a:solidFill>
              </a:rPr>
              <a:t>데이터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E560EF1-2244-4899-A00B-380E0F1C0E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81" y="2864372"/>
            <a:ext cx="4874801" cy="318523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EE389E5-0C09-40C9-A2A7-C5993AC4948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851"/>
          <a:stretch/>
        </p:blipFill>
        <p:spPr>
          <a:xfrm>
            <a:off x="5346357" y="2998473"/>
            <a:ext cx="6458465" cy="29170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67263AD-373F-42AF-93A4-B72352511DAC}"/>
              </a:ext>
            </a:extLst>
          </p:cNvPr>
          <p:cNvSpPr txBox="1"/>
          <p:nvPr/>
        </p:nvSpPr>
        <p:spPr>
          <a:xfrm>
            <a:off x="996780" y="1976705"/>
            <a:ext cx="5404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33108590_d685bfe51c.jpg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35506150_cbdb630f4f.jpg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2BA117-3742-4D68-90D4-3947F041BC87}"/>
              </a:ext>
            </a:extLst>
          </p:cNvPr>
          <p:cNvSpPr txBox="1"/>
          <p:nvPr/>
        </p:nvSpPr>
        <p:spPr>
          <a:xfrm>
            <a:off x="6524368" y="2036809"/>
            <a:ext cx="5404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.txt </a:t>
            </a:r>
            <a:r>
              <a:rPr lang="ko-KR" altLang="en-US" dirty="0">
                <a:solidFill>
                  <a:schemeClr val="bg1"/>
                </a:solidFill>
              </a:rPr>
              <a:t>형태로 모든 문장이</a:t>
            </a:r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>
                <a:solidFill>
                  <a:schemeClr val="bg1"/>
                </a:solidFill>
              </a:rPr>
              <a:t>이미지 </a:t>
            </a:r>
            <a:r>
              <a:rPr lang="en-US" altLang="ko-KR" dirty="0">
                <a:solidFill>
                  <a:schemeClr val="bg1"/>
                </a:solidFill>
              </a:rPr>
              <a:t>#0     </a:t>
            </a:r>
            <a:r>
              <a:rPr lang="ko-KR" altLang="en-US" dirty="0">
                <a:solidFill>
                  <a:schemeClr val="bg1"/>
                </a:solidFill>
              </a:rPr>
              <a:t>문장</a:t>
            </a:r>
            <a:r>
              <a:rPr lang="en-US" altLang="ko-KR" dirty="0">
                <a:solidFill>
                  <a:schemeClr val="bg1"/>
                </a:solidFill>
              </a:rPr>
              <a:t>1 </a:t>
            </a:r>
            <a:r>
              <a:rPr lang="ko-KR" altLang="en-US" dirty="0">
                <a:solidFill>
                  <a:schemeClr val="bg1"/>
                </a:solidFill>
              </a:rPr>
              <a:t>형태로 이루어졌다</a:t>
            </a:r>
          </a:p>
        </p:txBody>
      </p:sp>
    </p:spTree>
    <p:extLst>
      <p:ext uri="{BB962C8B-B14F-4D97-AF65-F5344CB8AC3E}">
        <p14:creationId xmlns:p14="http://schemas.microsoft.com/office/powerpoint/2010/main" val="200511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6774382-CF10-4DB8-9B67-3E293E0D59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322" y="1200278"/>
            <a:ext cx="7841560" cy="4607398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72EF2771-045C-409A-9FA5-F6C803BB67EC}"/>
              </a:ext>
            </a:extLst>
          </p:cNvPr>
          <p:cNvSpPr/>
          <p:nvPr/>
        </p:nvSpPr>
        <p:spPr>
          <a:xfrm>
            <a:off x="7728438" y="1062181"/>
            <a:ext cx="4463562" cy="57958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F96B9A-23A8-443B-85AC-CDC4077CD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0338"/>
            <a:ext cx="12192000" cy="1132519"/>
          </a:xfrm>
          <a:solidFill>
            <a:schemeClr val="tx2">
              <a:lumMod val="75000"/>
            </a:schemeClr>
          </a:solidFill>
        </p:spPr>
        <p:txBody>
          <a:bodyPr lIns="288000" tIns="432000">
            <a:normAutofit/>
          </a:bodyPr>
          <a:lstStyle/>
          <a:p>
            <a:r>
              <a:rPr lang="ko-KR" altLang="en-US" sz="3600" dirty="0">
                <a:solidFill>
                  <a:schemeClr val="bg1"/>
                </a:solidFill>
              </a:rPr>
              <a:t>데이터 </a:t>
            </a:r>
            <a:r>
              <a:rPr lang="ko-KR" altLang="en-US" sz="2000" dirty="0">
                <a:solidFill>
                  <a:schemeClr val="bg1"/>
                </a:solidFill>
              </a:rPr>
              <a:t>문자 </a:t>
            </a:r>
            <a:r>
              <a:rPr lang="ko-KR" altLang="en-US" sz="2000" dirty="0" err="1">
                <a:solidFill>
                  <a:schemeClr val="bg1"/>
                </a:solidFill>
              </a:rPr>
              <a:t>전처리</a:t>
            </a:r>
            <a:endParaRPr lang="ko-KR" altLang="en-US" sz="36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80AE90-B7F9-40F3-BFAF-6BD4152035AB}"/>
              </a:ext>
            </a:extLst>
          </p:cNvPr>
          <p:cNvSpPr txBox="1"/>
          <p:nvPr/>
        </p:nvSpPr>
        <p:spPr>
          <a:xfrm>
            <a:off x="7689763" y="1102468"/>
            <a:ext cx="45022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1234_5678.jpg ‘Students go to school.’\n</a:t>
            </a:r>
          </a:p>
          <a:p>
            <a:r>
              <a:rPr lang="en-US" altLang="ko-KR" dirty="0"/>
              <a:t>1234_5678.jpg ‘Students ……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762991-69E7-4E3B-9A96-8E37601043BD}"/>
              </a:ext>
            </a:extLst>
          </p:cNvPr>
          <p:cNvSpPr txBox="1"/>
          <p:nvPr/>
        </p:nvSpPr>
        <p:spPr>
          <a:xfrm>
            <a:off x="9616846" y="4063667"/>
            <a:ext cx="24566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. , ? ! ~ </a:t>
            </a:r>
            <a:r>
              <a:rPr lang="ko-KR" altLang="en-US" dirty="0"/>
              <a:t>특수문자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대문자 </a:t>
            </a:r>
            <a:r>
              <a:rPr lang="en-US" altLang="ko-KR" dirty="0"/>
              <a:t>&gt;&gt; </a:t>
            </a:r>
            <a:r>
              <a:rPr lang="ko-KR" altLang="en-US" dirty="0"/>
              <a:t>소문자</a:t>
            </a:r>
            <a:r>
              <a:rPr lang="en-US" altLang="ko-KR" dirty="0"/>
              <a:t> </a:t>
            </a:r>
          </a:p>
          <a:p>
            <a:r>
              <a:rPr lang="en-US" altLang="ko-KR" dirty="0"/>
              <a:t>3. ‘start</a:t>
            </a:r>
            <a:r>
              <a:rPr lang="ko-KR" altLang="en-US" dirty="0"/>
              <a:t> </a:t>
            </a:r>
            <a:r>
              <a:rPr lang="en-US" altLang="ko-KR" dirty="0"/>
              <a:t>‘, ‘ end’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2A1C5C-E5AF-4970-99A2-56BDFCE886DC}"/>
              </a:ext>
            </a:extLst>
          </p:cNvPr>
          <p:cNvSpPr txBox="1"/>
          <p:nvPr/>
        </p:nvSpPr>
        <p:spPr>
          <a:xfrm>
            <a:off x="7763905" y="5344254"/>
            <a:ext cx="42177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descriptions</a:t>
            </a:r>
          </a:p>
          <a:p>
            <a:r>
              <a:rPr lang="en-US" altLang="ko-KR" dirty="0"/>
              <a:t>{‘1234_5678’ : [‘start student is…. end’, </a:t>
            </a:r>
          </a:p>
          <a:p>
            <a:r>
              <a:rPr lang="en-US" altLang="ko-KR" dirty="0"/>
              <a:t>	        ‘start student …..   end’,</a:t>
            </a:r>
          </a:p>
          <a:p>
            <a:r>
              <a:rPr lang="en-US" altLang="ko-KR" dirty="0"/>
              <a:t>	                    …               </a:t>
            </a:r>
          </a:p>
          <a:p>
            <a:r>
              <a:rPr lang="en-US" altLang="ko-KR" dirty="0"/>
              <a:t>		         …               ]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E02FDB9-76C8-4BBC-B03C-32E3461AAE3A}"/>
              </a:ext>
            </a:extLst>
          </p:cNvPr>
          <p:cNvSpPr/>
          <p:nvPr/>
        </p:nvSpPr>
        <p:spPr>
          <a:xfrm>
            <a:off x="1696995" y="1845276"/>
            <a:ext cx="486032" cy="29656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E68C9D-3B1F-442C-9747-4A59330A422E}"/>
              </a:ext>
            </a:extLst>
          </p:cNvPr>
          <p:cNvSpPr txBox="1"/>
          <p:nvPr/>
        </p:nvSpPr>
        <p:spPr>
          <a:xfrm>
            <a:off x="7709100" y="1867412"/>
            <a:ext cx="45022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1234_5678.jpg ‘Students go to school.’</a:t>
            </a:r>
          </a:p>
          <a:p>
            <a:r>
              <a:rPr lang="en-US" altLang="ko-KR" dirty="0"/>
              <a:t>1234_5678.jpg ‘Students ……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09ED80-447B-45FD-A146-3395B89B000D}"/>
              </a:ext>
            </a:extLst>
          </p:cNvPr>
          <p:cNvSpPr txBox="1"/>
          <p:nvPr/>
        </p:nvSpPr>
        <p:spPr>
          <a:xfrm>
            <a:off x="7709100" y="3375000"/>
            <a:ext cx="4502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1234_5678.jpg     ‘Students go to school.’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E94FD3-3B32-473B-97B3-EB3CD780F190}"/>
              </a:ext>
            </a:extLst>
          </p:cNvPr>
          <p:cNvSpPr txBox="1"/>
          <p:nvPr/>
        </p:nvSpPr>
        <p:spPr>
          <a:xfrm>
            <a:off x="7763905" y="2956763"/>
            <a:ext cx="4502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  </a:t>
            </a:r>
            <a:r>
              <a:rPr lang="en-US" altLang="ko-KR" dirty="0" err="1"/>
              <a:t>image_id</a:t>
            </a:r>
            <a:r>
              <a:rPr lang="en-US" altLang="ko-KR" dirty="0"/>
              <a:t>                 words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A128DCE1-CF1B-4B14-B983-BFF357DA73B6}"/>
              </a:ext>
            </a:extLst>
          </p:cNvPr>
          <p:cNvCxnSpPr>
            <a:cxnSpLocks/>
          </p:cNvCxnSpPr>
          <p:nvPr/>
        </p:nvCxnSpPr>
        <p:spPr>
          <a:xfrm>
            <a:off x="10816281" y="3744332"/>
            <a:ext cx="0" cy="3193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2103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C7B53942-6160-4257-8C8F-5744EB2C5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966" y="1366837"/>
            <a:ext cx="8944879" cy="4193704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9409E00D-7170-4B81-8668-6CD661F3F16A}"/>
              </a:ext>
            </a:extLst>
          </p:cNvPr>
          <p:cNvSpPr/>
          <p:nvPr/>
        </p:nvSpPr>
        <p:spPr>
          <a:xfrm>
            <a:off x="9193426" y="1062181"/>
            <a:ext cx="2998573" cy="57958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F96B9A-23A8-443B-85AC-CDC4077CD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0338"/>
            <a:ext cx="12192000" cy="1132519"/>
          </a:xfrm>
          <a:solidFill>
            <a:schemeClr val="tx2">
              <a:lumMod val="75000"/>
            </a:schemeClr>
          </a:solidFill>
        </p:spPr>
        <p:txBody>
          <a:bodyPr lIns="288000" tIns="432000">
            <a:normAutofit/>
          </a:bodyPr>
          <a:lstStyle/>
          <a:p>
            <a:r>
              <a:rPr lang="ko-KR" altLang="en-US" sz="3600" dirty="0">
                <a:solidFill>
                  <a:schemeClr val="bg1">
                    <a:lumMod val="95000"/>
                  </a:schemeClr>
                </a:solidFill>
              </a:rPr>
              <a:t>데이터 </a:t>
            </a:r>
            <a:r>
              <a:rPr lang="ko-KR" altLang="en-US" sz="1800" dirty="0">
                <a:solidFill>
                  <a:schemeClr val="bg1">
                    <a:lumMod val="95000"/>
                  </a:schemeClr>
                </a:solidFill>
              </a:rPr>
              <a:t>전체 단어 수 </a:t>
            </a:r>
            <a:r>
              <a:rPr lang="en-US" altLang="ko-KR" sz="1800" dirty="0">
                <a:solidFill>
                  <a:schemeClr val="bg1">
                    <a:lumMod val="95000"/>
                  </a:schemeClr>
                </a:solidFill>
              </a:rPr>
              <a:t>/ </a:t>
            </a:r>
            <a:r>
              <a:rPr lang="ko-KR" altLang="en-US" sz="1800" dirty="0">
                <a:solidFill>
                  <a:schemeClr val="bg1">
                    <a:lumMod val="95000"/>
                  </a:schemeClr>
                </a:solidFill>
              </a:rPr>
              <a:t>문장 길이</a:t>
            </a:r>
            <a:endParaRPr lang="ko-KR" altLang="en-US" sz="3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A32140-6F56-4FC8-A121-4B25E64300CF}"/>
              </a:ext>
            </a:extLst>
          </p:cNvPr>
          <p:cNvSpPr txBox="1"/>
          <p:nvPr/>
        </p:nvSpPr>
        <p:spPr>
          <a:xfrm>
            <a:off x="9394798" y="1561401"/>
            <a:ext cx="25516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all_captions</a:t>
            </a:r>
            <a:r>
              <a:rPr lang="en-US" altLang="ko-KR" dirty="0"/>
              <a:t> </a:t>
            </a:r>
          </a:p>
          <a:p>
            <a:r>
              <a:rPr lang="en-US" altLang="ko-KR" dirty="0"/>
              <a:t>[</a:t>
            </a:r>
            <a:r>
              <a:rPr lang="ko-KR" altLang="en-US" dirty="0"/>
              <a:t>문장</a:t>
            </a:r>
            <a:r>
              <a:rPr lang="en-US" altLang="ko-KR" dirty="0"/>
              <a:t>1, </a:t>
            </a:r>
            <a:r>
              <a:rPr lang="ko-KR" altLang="en-US" dirty="0"/>
              <a:t>문장</a:t>
            </a:r>
            <a:r>
              <a:rPr lang="en-US" altLang="ko-KR" dirty="0"/>
              <a:t>2, </a:t>
            </a:r>
            <a:r>
              <a:rPr lang="ko-KR" altLang="en-US" dirty="0"/>
              <a:t>문장</a:t>
            </a:r>
            <a:r>
              <a:rPr lang="en-US" altLang="ko-KR" dirty="0"/>
              <a:t>3,</a:t>
            </a:r>
          </a:p>
          <a:p>
            <a:r>
              <a:rPr lang="en-US" altLang="ko-KR" dirty="0"/>
              <a:t> …. </a:t>
            </a:r>
            <a:r>
              <a:rPr lang="ko-KR" altLang="en-US" dirty="0"/>
              <a:t>문장</a:t>
            </a:r>
            <a:r>
              <a:rPr lang="en-US" altLang="ko-KR" dirty="0"/>
              <a:t>40000]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384F02-F5DD-43CA-BFAB-1CCD4D0E5977}"/>
              </a:ext>
            </a:extLst>
          </p:cNvPr>
          <p:cNvSpPr txBox="1"/>
          <p:nvPr/>
        </p:nvSpPr>
        <p:spPr>
          <a:xfrm>
            <a:off x="9259326" y="3821454"/>
            <a:ext cx="29326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[‘start’, ‘students’, ‘go’,… ‘end’]</a:t>
            </a:r>
          </a:p>
        </p:txBody>
      </p:sp>
    </p:spTree>
    <p:extLst>
      <p:ext uri="{BB962C8B-B14F-4D97-AF65-F5344CB8AC3E}">
        <p14:creationId xmlns:p14="http://schemas.microsoft.com/office/powerpoint/2010/main" val="1983469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F96B9A-23A8-443B-85AC-CDC4077CD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0338"/>
            <a:ext cx="12192000" cy="1132519"/>
          </a:xfrm>
          <a:solidFill>
            <a:schemeClr val="tx2">
              <a:lumMod val="75000"/>
            </a:schemeClr>
          </a:solidFill>
        </p:spPr>
        <p:txBody>
          <a:bodyPr lIns="288000" tIns="432000">
            <a:normAutofit/>
          </a:bodyPr>
          <a:lstStyle/>
          <a:p>
            <a:r>
              <a:rPr lang="ko-KR" altLang="en-US" sz="3600" dirty="0">
                <a:solidFill>
                  <a:schemeClr val="bg1">
                    <a:lumMod val="95000"/>
                  </a:schemeClr>
                </a:solidFill>
              </a:rPr>
              <a:t>데이터 </a:t>
            </a:r>
            <a:r>
              <a:rPr lang="en-US" altLang="ko-KR" sz="1800" dirty="0" err="1">
                <a:solidFill>
                  <a:schemeClr val="bg1">
                    <a:lumMod val="95000"/>
                  </a:schemeClr>
                </a:solidFill>
              </a:rPr>
              <a:t>zero_padding</a:t>
            </a:r>
            <a:r>
              <a:rPr lang="en-US" altLang="ko-KR" sz="18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altLang="ko-KR" sz="1800" dirty="0" err="1">
                <a:solidFill>
                  <a:schemeClr val="bg1">
                    <a:lumMod val="95000"/>
                  </a:schemeClr>
                </a:solidFill>
              </a:rPr>
              <a:t>max_length</a:t>
            </a:r>
            <a:endParaRPr lang="ko-KR" altLang="en-US" sz="3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36DD12-3509-41BA-8C0F-E432AED3BA3C}"/>
              </a:ext>
            </a:extLst>
          </p:cNvPr>
          <p:cNvSpPr txBox="1"/>
          <p:nvPr/>
        </p:nvSpPr>
        <p:spPr>
          <a:xfrm>
            <a:off x="1103871" y="2031138"/>
            <a:ext cx="1044557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‘start practical deep learning for cloud mobile edge end’  &gt;&gt;  9</a:t>
            </a:r>
          </a:p>
          <a:p>
            <a:r>
              <a:rPr lang="en-US" altLang="ko-KR" sz="2400" dirty="0">
                <a:solidFill>
                  <a:schemeClr val="bg1"/>
                </a:solidFill>
              </a:rPr>
              <a:t>‘start student goes to school end’                                &gt;&gt; 6</a:t>
            </a:r>
          </a:p>
          <a:p>
            <a:endParaRPr lang="en-US" altLang="ko-KR" sz="2400" dirty="0">
              <a:solidFill>
                <a:schemeClr val="bg1"/>
              </a:solidFill>
            </a:endParaRPr>
          </a:p>
          <a:p>
            <a:endParaRPr lang="en-US" altLang="ko-KR" sz="2400" dirty="0">
              <a:solidFill>
                <a:schemeClr val="bg1"/>
              </a:solidFill>
            </a:endParaRPr>
          </a:p>
          <a:p>
            <a:endParaRPr lang="en-US" altLang="ko-KR" sz="2400" dirty="0">
              <a:solidFill>
                <a:schemeClr val="bg1"/>
              </a:solidFill>
            </a:endParaRPr>
          </a:p>
          <a:p>
            <a:endParaRPr lang="en-US" altLang="ko-KR" sz="2400" dirty="0">
              <a:solidFill>
                <a:schemeClr val="bg1"/>
              </a:solidFill>
            </a:endParaRPr>
          </a:p>
          <a:p>
            <a:endParaRPr lang="en-US" altLang="ko-KR" sz="2400" dirty="0">
              <a:solidFill>
                <a:schemeClr val="bg1"/>
              </a:solidFill>
            </a:endParaRPr>
          </a:p>
          <a:p>
            <a:r>
              <a:rPr lang="en-US" altLang="ko-KR" sz="2400" dirty="0">
                <a:solidFill>
                  <a:schemeClr val="bg1"/>
                </a:solidFill>
              </a:rPr>
              <a:t>‘start practical deep   learning    for      cloud  mobile   edge    end’</a:t>
            </a:r>
          </a:p>
          <a:p>
            <a:r>
              <a:rPr lang="en-US" altLang="ko-KR" sz="2400" dirty="0">
                <a:solidFill>
                  <a:schemeClr val="bg1"/>
                </a:solidFill>
              </a:rPr>
              <a:t>‘ 0       0         0        start    student   goes      to     school   end’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39A12295-7878-42FE-9419-E0B26463FD4D}"/>
              </a:ext>
            </a:extLst>
          </p:cNvPr>
          <p:cNvSpPr/>
          <p:nvPr/>
        </p:nvSpPr>
        <p:spPr>
          <a:xfrm rot="5400000">
            <a:off x="5516262" y="3362068"/>
            <a:ext cx="809367" cy="580767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079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89CAD700-95B6-492A-B643-F2D97827F5D4}"/>
              </a:ext>
            </a:extLst>
          </p:cNvPr>
          <p:cNvSpPr/>
          <p:nvPr/>
        </p:nvSpPr>
        <p:spPr>
          <a:xfrm>
            <a:off x="7728438" y="1062181"/>
            <a:ext cx="4463562" cy="57958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F96B9A-23A8-443B-85AC-CDC4077CD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0338"/>
            <a:ext cx="12192000" cy="1132519"/>
          </a:xfrm>
          <a:solidFill>
            <a:schemeClr val="tx2">
              <a:lumMod val="75000"/>
            </a:schemeClr>
          </a:solidFill>
        </p:spPr>
        <p:txBody>
          <a:bodyPr lIns="288000" tIns="432000">
            <a:normAutofit/>
          </a:bodyPr>
          <a:lstStyle/>
          <a:p>
            <a:r>
              <a:rPr lang="ko-KR" altLang="en-US" sz="3600" dirty="0">
                <a:solidFill>
                  <a:schemeClr val="bg1">
                    <a:lumMod val="95000"/>
                  </a:schemeClr>
                </a:solidFill>
              </a:rPr>
              <a:t>데이터 </a:t>
            </a:r>
            <a:r>
              <a:rPr lang="ko-KR" altLang="en-US" sz="1800" dirty="0">
                <a:solidFill>
                  <a:schemeClr val="bg1">
                    <a:lumMod val="95000"/>
                  </a:schemeClr>
                </a:solidFill>
              </a:rPr>
              <a:t>전체 단어 수 </a:t>
            </a:r>
            <a:r>
              <a:rPr lang="en-US" altLang="ko-KR" sz="1800" dirty="0">
                <a:solidFill>
                  <a:schemeClr val="bg1">
                    <a:lumMod val="95000"/>
                  </a:schemeClr>
                </a:solidFill>
              </a:rPr>
              <a:t>/ </a:t>
            </a:r>
            <a:r>
              <a:rPr lang="ko-KR" altLang="en-US" sz="1800" dirty="0">
                <a:solidFill>
                  <a:schemeClr val="bg1">
                    <a:lumMod val="95000"/>
                  </a:schemeClr>
                </a:solidFill>
              </a:rPr>
              <a:t>문장 길이</a:t>
            </a:r>
            <a:endParaRPr lang="ko-KR" altLang="en-US" sz="360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6617A94-C2D6-4553-A6C9-30F2708640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910" y="1195387"/>
            <a:ext cx="5131366" cy="56626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004207-5F46-490C-A756-A6EE8CC4D08E}"/>
              </a:ext>
            </a:extLst>
          </p:cNvPr>
          <p:cNvSpPr txBox="1"/>
          <p:nvPr/>
        </p:nvSpPr>
        <p:spPr>
          <a:xfrm>
            <a:off x="7974227" y="1787348"/>
            <a:ext cx="42177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int_word</a:t>
            </a:r>
            <a:r>
              <a:rPr lang="en-US" altLang="ko-KR" dirty="0"/>
              <a:t> </a:t>
            </a:r>
          </a:p>
          <a:p>
            <a:r>
              <a:rPr lang="en-US" altLang="ko-KR" dirty="0"/>
              <a:t>{ 1 : ‘student’, 2 : ‘school’, ….}</a:t>
            </a:r>
          </a:p>
          <a:p>
            <a:endParaRPr lang="en-US" altLang="ko-KR" dirty="0"/>
          </a:p>
          <a:p>
            <a:r>
              <a:rPr lang="en-US" altLang="ko-KR" dirty="0" err="1"/>
              <a:t>word_int</a:t>
            </a:r>
            <a:endParaRPr lang="en-US" altLang="ko-KR" dirty="0"/>
          </a:p>
          <a:p>
            <a:r>
              <a:rPr lang="en-US" altLang="ko-KR" dirty="0"/>
              <a:t>{ ‘student’ : 1, ‘school’ : 2, …}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2C02E4-22BB-4892-A9EC-25E8B5FF095E}"/>
              </a:ext>
            </a:extLst>
          </p:cNvPr>
          <p:cNvSpPr txBox="1"/>
          <p:nvPr/>
        </p:nvSpPr>
        <p:spPr>
          <a:xfrm>
            <a:off x="7728438" y="5611153"/>
            <a:ext cx="4899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line.split</a:t>
            </a:r>
            <a:r>
              <a:rPr lang="en-US" altLang="ko-KR" dirty="0"/>
              <a:t>() &gt; [‘start’, ‘students’, ‘go’,… ‘end’]</a:t>
            </a:r>
          </a:p>
        </p:txBody>
      </p:sp>
    </p:spTree>
    <p:extLst>
      <p:ext uri="{BB962C8B-B14F-4D97-AF65-F5344CB8AC3E}">
        <p14:creationId xmlns:p14="http://schemas.microsoft.com/office/powerpoint/2010/main" val="1489363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F96B9A-23A8-443B-85AC-CDC4077CD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0338"/>
            <a:ext cx="12192000" cy="1132519"/>
          </a:xfrm>
          <a:solidFill>
            <a:schemeClr val="tx2">
              <a:lumMod val="75000"/>
            </a:schemeClr>
          </a:solidFill>
        </p:spPr>
        <p:txBody>
          <a:bodyPr lIns="288000" tIns="432000">
            <a:normAutofit/>
          </a:bodyPr>
          <a:lstStyle/>
          <a:p>
            <a:r>
              <a:rPr lang="ko-KR" altLang="en-US" sz="3600" dirty="0" err="1">
                <a:solidFill>
                  <a:schemeClr val="bg1">
                    <a:lumMod val="95000"/>
                  </a:schemeClr>
                </a:solidFill>
              </a:rPr>
              <a:t>임베딩</a:t>
            </a:r>
            <a:endParaRPr lang="ko-KR" altLang="en-US" sz="3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90C18C-7D2A-4E0D-A227-40AEEFD8AEAF}"/>
              </a:ext>
            </a:extLst>
          </p:cNvPr>
          <p:cNvSpPr txBox="1"/>
          <p:nvPr/>
        </p:nvSpPr>
        <p:spPr>
          <a:xfrm>
            <a:off x="5782963" y="4007152"/>
            <a:ext cx="5955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word –&gt; [0.1, 0.2, 0.3, …. … … … 0.7, 0.8]</a:t>
            </a:r>
            <a:endParaRPr lang="ko-KR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88417AA-A6BB-4358-B300-9CF91FB474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0682976"/>
              </p:ext>
            </p:extLst>
          </p:nvPr>
        </p:nvGraphicFramePr>
        <p:xfrm>
          <a:off x="1002270" y="2846858"/>
          <a:ext cx="406400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07604971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0195247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931117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나이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성별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4198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King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0.81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54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Queen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0.87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5576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Prince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0.11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0.72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6230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Pricess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0.23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912845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B91330A-8C8E-4277-9CAD-6F088090FB89}"/>
              </a:ext>
            </a:extLst>
          </p:cNvPr>
          <p:cNvSpPr txBox="1"/>
          <p:nvPr/>
        </p:nvSpPr>
        <p:spPr>
          <a:xfrm>
            <a:off x="2088292" y="1940011"/>
            <a:ext cx="6993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Embedding – </a:t>
            </a:r>
            <a:r>
              <a:rPr lang="ko-KR" altLang="en-US" dirty="0">
                <a:solidFill>
                  <a:schemeClr val="bg1"/>
                </a:solidFill>
              </a:rPr>
              <a:t>단어를 </a:t>
            </a:r>
            <a:r>
              <a:rPr lang="en-US" altLang="ko-KR" dirty="0">
                <a:solidFill>
                  <a:schemeClr val="bg1"/>
                </a:solidFill>
              </a:rPr>
              <a:t>n </a:t>
            </a:r>
            <a:r>
              <a:rPr lang="ko-KR" altLang="en-US" dirty="0">
                <a:solidFill>
                  <a:schemeClr val="bg1"/>
                </a:solidFill>
              </a:rPr>
              <a:t>차원의 벡터의 형태로 표현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58AA2D-6A89-41CE-87CF-1B2AF851C29A}"/>
              </a:ext>
            </a:extLst>
          </p:cNvPr>
          <p:cNvSpPr txBox="1"/>
          <p:nvPr/>
        </p:nvSpPr>
        <p:spPr>
          <a:xfrm>
            <a:off x="5782962" y="3187173"/>
            <a:ext cx="5955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word –&gt; [0 0 0 0 0 0 0 1 0 0 0 …..      …     …   0 0]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53E94B4A-1DC9-47C5-BE48-9AF8373CFECA}"/>
              </a:ext>
            </a:extLst>
          </p:cNvPr>
          <p:cNvCxnSpPr>
            <a:cxnSpLocks/>
          </p:cNvCxnSpPr>
          <p:nvPr/>
        </p:nvCxnSpPr>
        <p:spPr>
          <a:xfrm>
            <a:off x="6903308" y="3023286"/>
            <a:ext cx="4349578" cy="0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0B6BC1A-CE33-4C9B-98D1-F3AA00E2E1B1}"/>
              </a:ext>
            </a:extLst>
          </p:cNvPr>
          <p:cNvSpPr txBox="1"/>
          <p:nvPr/>
        </p:nvSpPr>
        <p:spPr>
          <a:xfrm>
            <a:off x="8526161" y="2685286"/>
            <a:ext cx="17464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전체 단어 수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FCB4263A-2795-46FB-A55E-C7C79A0FED2D}"/>
              </a:ext>
            </a:extLst>
          </p:cNvPr>
          <p:cNvCxnSpPr>
            <a:cxnSpLocks/>
          </p:cNvCxnSpPr>
          <p:nvPr/>
        </p:nvCxnSpPr>
        <p:spPr>
          <a:xfrm>
            <a:off x="6903308" y="4493740"/>
            <a:ext cx="3064476" cy="0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71B8807-DB52-4F6E-A825-14398BEB9BC7}"/>
              </a:ext>
            </a:extLst>
          </p:cNvPr>
          <p:cNvSpPr txBox="1"/>
          <p:nvPr/>
        </p:nvSpPr>
        <p:spPr>
          <a:xfrm>
            <a:off x="8204886" y="4585390"/>
            <a:ext cx="17464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200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9999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A736A365-C49F-4925-BF2E-A317E56A58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076" y="1248933"/>
            <a:ext cx="9079755" cy="4723499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F80F26B9-F165-4BE6-AC45-E2C71389DCAC}"/>
              </a:ext>
            </a:extLst>
          </p:cNvPr>
          <p:cNvSpPr/>
          <p:nvPr/>
        </p:nvSpPr>
        <p:spPr>
          <a:xfrm>
            <a:off x="8560900" y="1062181"/>
            <a:ext cx="3631099" cy="57958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F96B9A-23A8-443B-85AC-CDC4077CD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0338"/>
            <a:ext cx="12192000" cy="1132519"/>
          </a:xfrm>
          <a:solidFill>
            <a:schemeClr val="tx2">
              <a:lumMod val="75000"/>
            </a:schemeClr>
          </a:solidFill>
        </p:spPr>
        <p:txBody>
          <a:bodyPr lIns="288000" tIns="432000">
            <a:normAutofit/>
          </a:bodyPr>
          <a:lstStyle/>
          <a:p>
            <a:r>
              <a:rPr lang="ko-KR" altLang="en-US" sz="3600" dirty="0" err="1">
                <a:solidFill>
                  <a:schemeClr val="bg1">
                    <a:lumMod val="95000"/>
                  </a:schemeClr>
                </a:solidFill>
              </a:rPr>
              <a:t>임베딩</a:t>
            </a:r>
            <a:r>
              <a:rPr lang="ko-KR" altLang="en-US" sz="3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altLang="ko-KR" sz="3600" dirty="0" err="1">
                <a:solidFill>
                  <a:schemeClr val="bg1">
                    <a:lumMod val="95000"/>
                  </a:schemeClr>
                </a:solidFill>
              </a:rPr>
              <a:t>GloVe</a:t>
            </a:r>
            <a:endParaRPr lang="ko-KR" altLang="en-US" sz="3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1FA8EF-7085-41AE-8D47-C6324BF2A275}"/>
              </a:ext>
            </a:extLst>
          </p:cNvPr>
          <p:cNvSpPr txBox="1"/>
          <p:nvPr/>
        </p:nvSpPr>
        <p:spPr>
          <a:xfrm>
            <a:off x="9313134" y="4582061"/>
            <a:ext cx="287886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[[ 0, 0, 0, 0, ....              ],</a:t>
            </a:r>
          </a:p>
          <a:p>
            <a:r>
              <a:rPr lang="en-US" altLang="ko-KR" dirty="0"/>
              <a:t> [ 0.5, 0.2, 0.3, 0.4, 0 , ..  ],</a:t>
            </a:r>
          </a:p>
          <a:p>
            <a:r>
              <a:rPr lang="en-US" altLang="ko-KR" dirty="0"/>
              <a:t> [                  …          ],</a:t>
            </a:r>
          </a:p>
          <a:p>
            <a:r>
              <a:rPr lang="en-US" altLang="ko-KR" dirty="0"/>
              <a:t>                    …  </a:t>
            </a:r>
          </a:p>
          <a:p>
            <a:r>
              <a:rPr lang="en-US" altLang="ko-KR" dirty="0"/>
              <a:t> [0.1, 0.2, 0.3, 0.4, …      ]]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F17FFB-9D8F-4D4A-BC95-2BB24612DE55}"/>
              </a:ext>
            </a:extLst>
          </p:cNvPr>
          <p:cNvSpPr txBox="1"/>
          <p:nvPr/>
        </p:nvSpPr>
        <p:spPr>
          <a:xfrm>
            <a:off x="8560899" y="4602828"/>
            <a:ext cx="75223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0</a:t>
            </a:r>
          </a:p>
          <a:p>
            <a:pPr algn="ctr"/>
            <a:r>
              <a:rPr lang="en-US" altLang="ko-KR" dirty="0"/>
              <a:t>1</a:t>
            </a:r>
          </a:p>
          <a:p>
            <a:pPr algn="ctr"/>
            <a:r>
              <a:rPr lang="en-US" altLang="ko-KR" dirty="0"/>
              <a:t>2</a:t>
            </a:r>
          </a:p>
          <a:p>
            <a:pPr algn="ctr"/>
            <a:r>
              <a:rPr lang="en-US" altLang="ko-KR" dirty="0"/>
              <a:t>…</a:t>
            </a:r>
          </a:p>
          <a:p>
            <a:pPr algn="ctr"/>
            <a:r>
              <a:rPr lang="en-US" altLang="ko-KR" dirty="0"/>
              <a:t>1948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5397E0-386D-4C26-A0B9-E5EF20DB5968}"/>
              </a:ext>
            </a:extLst>
          </p:cNvPr>
          <p:cNvSpPr txBox="1"/>
          <p:nvPr/>
        </p:nvSpPr>
        <p:spPr>
          <a:xfrm>
            <a:off x="8740346" y="3122043"/>
            <a:ext cx="31099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word_int</a:t>
            </a:r>
            <a:endParaRPr lang="en-US" altLang="ko-KR" dirty="0"/>
          </a:p>
          <a:p>
            <a:r>
              <a:rPr lang="en-US" altLang="ko-KR" dirty="0"/>
              <a:t>{ ‘student’ : 1, ‘school’ : 2, …}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85AE065-5449-4C9B-94E1-C83F60E84A5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450"/>
          <a:stretch/>
        </p:blipFill>
        <p:spPr>
          <a:xfrm>
            <a:off x="8937016" y="1260455"/>
            <a:ext cx="2718486" cy="1793068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82BDC62-2841-47C7-999F-5FFE5E62E992}"/>
              </a:ext>
            </a:extLst>
          </p:cNvPr>
          <p:cNvSpPr/>
          <p:nvPr/>
        </p:nvSpPr>
        <p:spPr>
          <a:xfrm>
            <a:off x="8937016" y="1259438"/>
            <a:ext cx="701254" cy="22337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7F213C8-D06A-40E8-A6EB-AE3D6FCE4189}"/>
              </a:ext>
            </a:extLst>
          </p:cNvPr>
          <p:cNvSpPr/>
          <p:nvPr/>
        </p:nvSpPr>
        <p:spPr>
          <a:xfrm>
            <a:off x="8930826" y="1590535"/>
            <a:ext cx="1028720" cy="22337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001006D-D269-43EB-9FA2-0891F925F38C}"/>
              </a:ext>
            </a:extLst>
          </p:cNvPr>
          <p:cNvSpPr/>
          <p:nvPr/>
        </p:nvSpPr>
        <p:spPr>
          <a:xfrm>
            <a:off x="8930826" y="1967368"/>
            <a:ext cx="382307" cy="22337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075599F-9125-42DC-82B5-806766917A99}"/>
              </a:ext>
            </a:extLst>
          </p:cNvPr>
          <p:cNvSpPr/>
          <p:nvPr/>
        </p:nvSpPr>
        <p:spPr>
          <a:xfrm>
            <a:off x="8937744" y="2325139"/>
            <a:ext cx="576959" cy="22337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CC04986-A299-4830-9163-27D66BEF4896}"/>
              </a:ext>
            </a:extLst>
          </p:cNvPr>
          <p:cNvSpPr/>
          <p:nvPr/>
        </p:nvSpPr>
        <p:spPr>
          <a:xfrm>
            <a:off x="8937744" y="2656236"/>
            <a:ext cx="576959" cy="22337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926DA4-31DB-4ADB-AEBB-AB7FB97D49DD}"/>
              </a:ext>
            </a:extLst>
          </p:cNvPr>
          <p:cNvSpPr txBox="1"/>
          <p:nvPr/>
        </p:nvSpPr>
        <p:spPr>
          <a:xfrm>
            <a:off x="9550029" y="4193182"/>
            <a:ext cx="2405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Embedding matrix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B76CE5-5356-488C-9380-B2EF3430BB68}"/>
              </a:ext>
            </a:extLst>
          </p:cNvPr>
          <p:cNvSpPr txBox="1"/>
          <p:nvPr/>
        </p:nvSpPr>
        <p:spPr>
          <a:xfrm>
            <a:off x="8686844" y="4186042"/>
            <a:ext cx="600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int</a:t>
            </a:r>
            <a:endParaRPr lang="ko-KR" altLang="en-US" dirty="0"/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73E6A620-8FDE-4143-826C-E23ADB20DA36}"/>
              </a:ext>
            </a:extLst>
          </p:cNvPr>
          <p:cNvCxnSpPr/>
          <p:nvPr/>
        </p:nvCxnSpPr>
        <p:spPr>
          <a:xfrm flipV="1">
            <a:off x="9113741" y="3751898"/>
            <a:ext cx="928183" cy="1273183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4415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A736A365-C49F-4925-BF2E-A317E56A58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076" y="1248933"/>
            <a:ext cx="9079755" cy="4723499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F80F26B9-F165-4BE6-AC45-E2C71389DCAC}"/>
              </a:ext>
            </a:extLst>
          </p:cNvPr>
          <p:cNvSpPr/>
          <p:nvPr/>
        </p:nvSpPr>
        <p:spPr>
          <a:xfrm>
            <a:off x="8560900" y="1062181"/>
            <a:ext cx="3631099" cy="57958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F96B9A-23A8-443B-85AC-CDC4077CD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0338"/>
            <a:ext cx="12192000" cy="1132519"/>
          </a:xfrm>
          <a:solidFill>
            <a:schemeClr val="tx2">
              <a:lumMod val="75000"/>
            </a:schemeClr>
          </a:solidFill>
        </p:spPr>
        <p:txBody>
          <a:bodyPr lIns="288000" tIns="432000">
            <a:normAutofit/>
          </a:bodyPr>
          <a:lstStyle/>
          <a:p>
            <a:r>
              <a:rPr lang="ko-KR" altLang="en-US" sz="3600" dirty="0" err="1">
                <a:solidFill>
                  <a:schemeClr val="bg1">
                    <a:lumMod val="95000"/>
                  </a:schemeClr>
                </a:solidFill>
              </a:rPr>
              <a:t>임베딩</a:t>
            </a:r>
            <a:r>
              <a:rPr lang="ko-KR" altLang="en-US" sz="3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altLang="ko-KR" sz="3600" dirty="0" err="1">
                <a:solidFill>
                  <a:schemeClr val="bg1">
                    <a:lumMod val="95000"/>
                  </a:schemeClr>
                </a:solidFill>
              </a:rPr>
              <a:t>GloVe</a:t>
            </a:r>
            <a:endParaRPr lang="ko-KR" altLang="en-US" sz="3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1FA8EF-7085-41AE-8D47-C6324BF2A275}"/>
              </a:ext>
            </a:extLst>
          </p:cNvPr>
          <p:cNvSpPr txBox="1"/>
          <p:nvPr/>
        </p:nvSpPr>
        <p:spPr>
          <a:xfrm>
            <a:off x="9313134" y="4582061"/>
            <a:ext cx="287886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[[ 0, 0, 0, 0, ....              ],</a:t>
            </a:r>
          </a:p>
          <a:p>
            <a:r>
              <a:rPr lang="en-US" altLang="ko-KR" dirty="0"/>
              <a:t> [ 0.5, 0.2, 0.3, 0.4, 0 , ..  ],</a:t>
            </a:r>
          </a:p>
          <a:p>
            <a:r>
              <a:rPr lang="en-US" altLang="ko-KR" dirty="0"/>
              <a:t> [                  …          ],</a:t>
            </a:r>
          </a:p>
          <a:p>
            <a:r>
              <a:rPr lang="en-US" altLang="ko-KR" dirty="0"/>
              <a:t>                    …  </a:t>
            </a:r>
          </a:p>
          <a:p>
            <a:r>
              <a:rPr lang="en-US" altLang="ko-KR" dirty="0"/>
              <a:t> [0.1, 0.2, 0.3, 0.4, …      ]]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F17FFB-9D8F-4D4A-BC95-2BB24612DE55}"/>
              </a:ext>
            </a:extLst>
          </p:cNvPr>
          <p:cNvSpPr txBox="1"/>
          <p:nvPr/>
        </p:nvSpPr>
        <p:spPr>
          <a:xfrm>
            <a:off x="8560899" y="4602828"/>
            <a:ext cx="75223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0</a:t>
            </a:r>
          </a:p>
          <a:p>
            <a:pPr algn="ctr"/>
            <a:r>
              <a:rPr lang="en-US" altLang="ko-KR" dirty="0"/>
              <a:t>1</a:t>
            </a:r>
          </a:p>
          <a:p>
            <a:pPr algn="ctr"/>
            <a:r>
              <a:rPr lang="en-US" altLang="ko-KR" dirty="0"/>
              <a:t>2</a:t>
            </a:r>
          </a:p>
          <a:p>
            <a:pPr algn="ctr"/>
            <a:r>
              <a:rPr lang="en-US" altLang="ko-KR" dirty="0"/>
              <a:t>…</a:t>
            </a:r>
          </a:p>
          <a:p>
            <a:pPr algn="ctr"/>
            <a:r>
              <a:rPr lang="en-US" altLang="ko-KR" dirty="0"/>
              <a:t>1948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5397E0-386D-4C26-A0B9-E5EF20DB5968}"/>
              </a:ext>
            </a:extLst>
          </p:cNvPr>
          <p:cNvSpPr txBox="1"/>
          <p:nvPr/>
        </p:nvSpPr>
        <p:spPr>
          <a:xfrm>
            <a:off x="8740346" y="3122043"/>
            <a:ext cx="31099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word_int</a:t>
            </a:r>
            <a:endParaRPr lang="en-US" altLang="ko-KR" dirty="0"/>
          </a:p>
          <a:p>
            <a:r>
              <a:rPr lang="en-US" altLang="ko-KR" dirty="0"/>
              <a:t>{ ‘student’ : 1, ‘school’ : 2, …}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85AE065-5449-4C9B-94E1-C83F60E84A5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450"/>
          <a:stretch/>
        </p:blipFill>
        <p:spPr>
          <a:xfrm>
            <a:off x="8937016" y="1260455"/>
            <a:ext cx="2718486" cy="1793068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82BDC62-2841-47C7-999F-5FFE5E62E992}"/>
              </a:ext>
            </a:extLst>
          </p:cNvPr>
          <p:cNvSpPr/>
          <p:nvPr/>
        </p:nvSpPr>
        <p:spPr>
          <a:xfrm>
            <a:off x="8937016" y="1259438"/>
            <a:ext cx="701254" cy="22337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7F213C8-D06A-40E8-A6EB-AE3D6FCE4189}"/>
              </a:ext>
            </a:extLst>
          </p:cNvPr>
          <p:cNvSpPr/>
          <p:nvPr/>
        </p:nvSpPr>
        <p:spPr>
          <a:xfrm>
            <a:off x="8930826" y="1590535"/>
            <a:ext cx="1028720" cy="22337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001006D-D269-43EB-9FA2-0891F925F38C}"/>
              </a:ext>
            </a:extLst>
          </p:cNvPr>
          <p:cNvSpPr/>
          <p:nvPr/>
        </p:nvSpPr>
        <p:spPr>
          <a:xfrm>
            <a:off x="8930826" y="1967368"/>
            <a:ext cx="382307" cy="22337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075599F-9125-42DC-82B5-806766917A99}"/>
              </a:ext>
            </a:extLst>
          </p:cNvPr>
          <p:cNvSpPr/>
          <p:nvPr/>
        </p:nvSpPr>
        <p:spPr>
          <a:xfrm>
            <a:off x="8937744" y="2325139"/>
            <a:ext cx="576959" cy="22337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CC04986-A299-4830-9163-27D66BEF4896}"/>
              </a:ext>
            </a:extLst>
          </p:cNvPr>
          <p:cNvSpPr/>
          <p:nvPr/>
        </p:nvSpPr>
        <p:spPr>
          <a:xfrm>
            <a:off x="8937744" y="2656236"/>
            <a:ext cx="576959" cy="22337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926DA4-31DB-4ADB-AEBB-AB7FB97D49DD}"/>
              </a:ext>
            </a:extLst>
          </p:cNvPr>
          <p:cNvSpPr txBox="1"/>
          <p:nvPr/>
        </p:nvSpPr>
        <p:spPr>
          <a:xfrm>
            <a:off x="9550029" y="4193182"/>
            <a:ext cx="2405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Embedding matrix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B76CE5-5356-488C-9380-B2EF3430BB68}"/>
              </a:ext>
            </a:extLst>
          </p:cNvPr>
          <p:cNvSpPr txBox="1"/>
          <p:nvPr/>
        </p:nvSpPr>
        <p:spPr>
          <a:xfrm>
            <a:off x="8686844" y="4186042"/>
            <a:ext cx="600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int</a:t>
            </a:r>
            <a:endParaRPr lang="ko-KR" altLang="en-US" dirty="0"/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73E6A620-8FDE-4143-826C-E23ADB20DA36}"/>
              </a:ext>
            </a:extLst>
          </p:cNvPr>
          <p:cNvCxnSpPr/>
          <p:nvPr/>
        </p:nvCxnSpPr>
        <p:spPr>
          <a:xfrm flipV="1">
            <a:off x="9113741" y="3751898"/>
            <a:ext cx="928183" cy="1273183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DDDC168-75DC-45D6-8C5E-E18C84F8C096}"/>
              </a:ext>
            </a:extLst>
          </p:cNvPr>
          <p:cNvSpPr txBox="1"/>
          <p:nvPr/>
        </p:nvSpPr>
        <p:spPr>
          <a:xfrm>
            <a:off x="2413686" y="1813908"/>
            <a:ext cx="6513857" cy="4345276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212397-92A6-440E-AF8D-ED02CB439569}"/>
              </a:ext>
            </a:extLst>
          </p:cNvPr>
          <p:cNvSpPr txBox="1"/>
          <p:nvPr/>
        </p:nvSpPr>
        <p:spPr>
          <a:xfrm>
            <a:off x="5553249" y="3547753"/>
            <a:ext cx="29473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[[ 0, 0, 0, 0, ....              ],</a:t>
            </a:r>
          </a:p>
          <a:p>
            <a:r>
              <a:rPr lang="en-US" altLang="ko-KR" dirty="0"/>
              <a:t> [ 0.5, 0.2, 0.3, 0.4, 0 , ..  ],</a:t>
            </a:r>
          </a:p>
          <a:p>
            <a:r>
              <a:rPr lang="en-US" altLang="ko-KR" dirty="0"/>
              <a:t> [                  …          ],</a:t>
            </a:r>
          </a:p>
          <a:p>
            <a:r>
              <a:rPr lang="en-US" altLang="ko-KR" dirty="0"/>
              <a:t>                    …  </a:t>
            </a:r>
          </a:p>
          <a:p>
            <a:r>
              <a:rPr lang="en-US" altLang="ko-KR" dirty="0"/>
              <a:t> [0.1, 0.2, 0.3, 0.4, …      ]]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B60081-A4D0-4355-85BA-C527706167F4}"/>
              </a:ext>
            </a:extLst>
          </p:cNvPr>
          <p:cNvSpPr txBox="1"/>
          <p:nvPr/>
        </p:nvSpPr>
        <p:spPr>
          <a:xfrm>
            <a:off x="4308854" y="3547753"/>
            <a:ext cx="75223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0</a:t>
            </a:r>
          </a:p>
          <a:p>
            <a:pPr algn="ctr"/>
            <a:r>
              <a:rPr lang="en-US" altLang="ko-KR" dirty="0"/>
              <a:t>1</a:t>
            </a:r>
          </a:p>
          <a:p>
            <a:pPr algn="ctr"/>
            <a:r>
              <a:rPr lang="en-US" altLang="ko-KR" dirty="0"/>
              <a:t>2</a:t>
            </a:r>
          </a:p>
          <a:p>
            <a:pPr algn="ctr"/>
            <a:r>
              <a:rPr lang="en-US" altLang="ko-KR" dirty="0"/>
              <a:t>…</a:t>
            </a:r>
          </a:p>
          <a:p>
            <a:pPr algn="ctr"/>
            <a:r>
              <a:rPr lang="en-US" altLang="ko-KR" dirty="0"/>
              <a:t>1948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038771-5E00-42A7-B86E-9267CDE07C14}"/>
              </a:ext>
            </a:extLst>
          </p:cNvPr>
          <p:cNvSpPr txBox="1"/>
          <p:nvPr/>
        </p:nvSpPr>
        <p:spPr>
          <a:xfrm>
            <a:off x="2266844" y="3539515"/>
            <a:ext cx="20888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Zero padding</a:t>
            </a:r>
          </a:p>
          <a:p>
            <a:pPr algn="ctr"/>
            <a:r>
              <a:rPr lang="ko-KR" altLang="en-US" dirty="0"/>
              <a:t>단어</a:t>
            </a:r>
            <a:r>
              <a:rPr lang="en-US" altLang="ko-KR" dirty="0"/>
              <a:t>1</a:t>
            </a:r>
          </a:p>
          <a:p>
            <a:pPr algn="ctr"/>
            <a:r>
              <a:rPr lang="ko-KR" altLang="en-US" dirty="0"/>
              <a:t>단어</a:t>
            </a:r>
            <a:r>
              <a:rPr lang="en-US" altLang="ko-KR" dirty="0"/>
              <a:t>2</a:t>
            </a:r>
          </a:p>
          <a:p>
            <a:pPr algn="ctr"/>
            <a:r>
              <a:rPr lang="en-US" altLang="ko-KR" dirty="0"/>
              <a:t>…</a:t>
            </a:r>
          </a:p>
          <a:p>
            <a:pPr algn="ctr"/>
            <a:r>
              <a:rPr lang="ko-KR" altLang="en-US" dirty="0"/>
              <a:t>단어</a:t>
            </a:r>
            <a:r>
              <a:rPr lang="en-US" altLang="ko-KR" dirty="0"/>
              <a:t>1948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2695C8-9377-44BD-9EB2-9FB7AD30E7D2}"/>
              </a:ext>
            </a:extLst>
          </p:cNvPr>
          <p:cNvSpPr txBox="1"/>
          <p:nvPr/>
        </p:nvSpPr>
        <p:spPr>
          <a:xfrm>
            <a:off x="2677297" y="2784389"/>
            <a:ext cx="5664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    단어           정수                 </a:t>
            </a:r>
            <a:r>
              <a:rPr lang="ko-KR" altLang="en-US" dirty="0" err="1"/>
              <a:t>임베딩</a:t>
            </a:r>
            <a:r>
              <a:rPr lang="ko-KR" altLang="en-US" dirty="0"/>
              <a:t> 벡터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4D434D19-58A6-4E74-B6BD-8C500F3AC35D}"/>
              </a:ext>
            </a:extLst>
          </p:cNvPr>
          <p:cNvCxnSpPr/>
          <p:nvPr/>
        </p:nvCxnSpPr>
        <p:spPr>
          <a:xfrm>
            <a:off x="2526425" y="3352763"/>
            <a:ext cx="587218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0F98B0C0-E849-4A44-805A-0CFE0A054BBC}"/>
              </a:ext>
            </a:extLst>
          </p:cNvPr>
          <p:cNvCxnSpPr/>
          <p:nvPr/>
        </p:nvCxnSpPr>
        <p:spPr>
          <a:xfrm>
            <a:off x="4209534" y="2656236"/>
            <a:ext cx="0" cy="258302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8026A075-78E6-45BE-BAEA-193D4500B04B}"/>
              </a:ext>
            </a:extLst>
          </p:cNvPr>
          <p:cNvCxnSpPr/>
          <p:nvPr/>
        </p:nvCxnSpPr>
        <p:spPr>
          <a:xfrm>
            <a:off x="5284571" y="2662414"/>
            <a:ext cx="0" cy="258302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8887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08BE52E-0347-46C8-97B9-8D5FD5D98A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214" y="1372630"/>
            <a:ext cx="9046706" cy="2293208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26F7C798-872B-44F1-96B0-130AC7DC60CE}"/>
              </a:ext>
            </a:extLst>
          </p:cNvPr>
          <p:cNvSpPr/>
          <p:nvPr/>
        </p:nvSpPr>
        <p:spPr>
          <a:xfrm>
            <a:off x="8560900" y="1062181"/>
            <a:ext cx="3631099" cy="57958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F96B9A-23A8-443B-85AC-CDC4077CD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0338"/>
            <a:ext cx="12192000" cy="1132519"/>
          </a:xfrm>
          <a:solidFill>
            <a:schemeClr val="tx2">
              <a:lumMod val="75000"/>
            </a:schemeClr>
          </a:solidFill>
        </p:spPr>
        <p:txBody>
          <a:bodyPr lIns="288000" tIns="432000">
            <a:normAutofit/>
          </a:bodyPr>
          <a:lstStyle/>
          <a:p>
            <a:r>
              <a:rPr lang="ko-KR" altLang="en-US" sz="3600" dirty="0">
                <a:solidFill>
                  <a:schemeClr val="bg1">
                    <a:lumMod val="95000"/>
                  </a:schemeClr>
                </a:solidFill>
              </a:rPr>
              <a:t>데이터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8B65763-2369-4849-A233-405D0B7B81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214" y="4023717"/>
            <a:ext cx="5421656" cy="20585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25F299-FEE4-4D5B-A662-BECA066F51B2}"/>
              </a:ext>
            </a:extLst>
          </p:cNvPr>
          <p:cNvSpPr txBox="1"/>
          <p:nvPr/>
        </p:nvSpPr>
        <p:spPr>
          <a:xfrm>
            <a:off x="8699157" y="2194700"/>
            <a:ext cx="3162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[‘1234_5678’, ‘2323_4545’,</a:t>
            </a:r>
          </a:p>
          <a:p>
            <a:r>
              <a:rPr lang="en-US" altLang="ko-KR" dirty="0"/>
              <a:t> … ‘1212_1111]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370E95-702F-4079-9664-15764B6B501C}"/>
              </a:ext>
            </a:extLst>
          </p:cNvPr>
          <p:cNvSpPr txBox="1"/>
          <p:nvPr/>
        </p:nvSpPr>
        <p:spPr>
          <a:xfrm>
            <a:off x="8699158" y="3831543"/>
            <a:ext cx="307797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train_descriptions</a:t>
            </a:r>
            <a:r>
              <a:rPr lang="en-US" altLang="ko-KR" dirty="0"/>
              <a:t> &gt;&gt;</a:t>
            </a:r>
          </a:p>
          <a:p>
            <a:r>
              <a:rPr lang="en-US" altLang="ko-KR" dirty="0"/>
              <a:t>{‘1234_5678’ : [‘start </a:t>
            </a:r>
          </a:p>
          <a:p>
            <a:r>
              <a:rPr lang="en-US" altLang="ko-KR" dirty="0"/>
              <a:t>	student is…. end’, </a:t>
            </a:r>
          </a:p>
          <a:p>
            <a:endParaRPr lang="en-US" altLang="ko-KR" dirty="0"/>
          </a:p>
          <a:p>
            <a:r>
              <a:rPr lang="en-US" altLang="ko-KR" dirty="0" err="1"/>
              <a:t>val_descriptions</a:t>
            </a:r>
            <a:r>
              <a:rPr lang="en-US" altLang="ko-KR" dirty="0"/>
              <a:t> &gt;&gt;</a:t>
            </a:r>
          </a:p>
          <a:p>
            <a:r>
              <a:rPr lang="en-US" altLang="ko-KR" dirty="0"/>
              <a:t>{‘2234_5678’ : [‘start</a:t>
            </a:r>
          </a:p>
          <a:p>
            <a:r>
              <a:rPr lang="en-US" altLang="ko-KR" dirty="0"/>
              <a:t>	 sentence…. end’, 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044173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F96B9A-23A8-443B-85AC-CDC4077CD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0338"/>
            <a:ext cx="12192000" cy="1132519"/>
          </a:xfrm>
          <a:solidFill>
            <a:schemeClr val="tx2">
              <a:lumMod val="75000"/>
            </a:schemeClr>
          </a:solidFill>
        </p:spPr>
        <p:txBody>
          <a:bodyPr lIns="288000" tIns="432000">
            <a:normAutofit/>
          </a:bodyPr>
          <a:lstStyle/>
          <a:p>
            <a:r>
              <a:rPr lang="ko-KR" altLang="en-US" sz="3600" dirty="0">
                <a:solidFill>
                  <a:schemeClr val="bg1">
                    <a:lumMod val="95000"/>
                  </a:schemeClr>
                </a:solidFill>
              </a:rPr>
              <a:t>데이터 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이미지 </a:t>
            </a:r>
            <a:r>
              <a:rPr lang="ko-KR" altLang="en-US" sz="1400" dirty="0" err="1">
                <a:solidFill>
                  <a:schemeClr val="bg1">
                    <a:lumMod val="95000"/>
                  </a:schemeClr>
                </a:solidFill>
              </a:rPr>
              <a:t>특성찾기</a:t>
            </a:r>
            <a:endParaRPr lang="ko-KR" altLang="en-US" sz="360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DDBEC17-3D3D-4E72-9B33-84703BBFBD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52" y="1261031"/>
            <a:ext cx="9603493" cy="5172719"/>
          </a:xfrm>
          <a:prstGeom prst="rect">
            <a:avLst/>
          </a:prstGeom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4F97735-FD78-4C85-93B3-76A470D0F079}"/>
              </a:ext>
            </a:extLst>
          </p:cNvPr>
          <p:cNvSpPr/>
          <p:nvPr/>
        </p:nvSpPr>
        <p:spPr>
          <a:xfrm>
            <a:off x="9111049" y="1261031"/>
            <a:ext cx="1721708" cy="6343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8B8AA0C-996B-451B-B81B-358F722AE038}"/>
              </a:ext>
            </a:extLst>
          </p:cNvPr>
          <p:cNvSpPr/>
          <p:nvPr/>
        </p:nvSpPr>
        <p:spPr>
          <a:xfrm>
            <a:off x="9111049" y="2022530"/>
            <a:ext cx="1721708" cy="6343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CNN</a:t>
            </a:r>
            <a:endParaRPr lang="ko-KR" altLang="en-US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0A6D46C-6C4D-4E77-83F8-D1315E2C9F0E}"/>
              </a:ext>
            </a:extLst>
          </p:cNvPr>
          <p:cNvSpPr/>
          <p:nvPr/>
        </p:nvSpPr>
        <p:spPr>
          <a:xfrm>
            <a:off x="9111049" y="2784029"/>
            <a:ext cx="1721708" cy="6343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Fully Connected</a:t>
            </a:r>
            <a:endParaRPr lang="ko-KR" altLang="en-US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CE87766-D1C2-4EB8-8618-18F203BA2FF8}"/>
              </a:ext>
            </a:extLst>
          </p:cNvPr>
          <p:cNvSpPr/>
          <p:nvPr/>
        </p:nvSpPr>
        <p:spPr>
          <a:xfrm>
            <a:off x="9111049" y="3951324"/>
            <a:ext cx="1721708" cy="6343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Dense(1000,</a:t>
            </a:r>
          </a:p>
          <a:p>
            <a:pPr algn="ctr"/>
            <a:r>
              <a:rPr lang="en-US" altLang="ko-KR" sz="1600" dirty="0" err="1"/>
              <a:t>softmax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B387608-C537-402B-84A8-677A8CFF74F8}"/>
              </a:ext>
            </a:extLst>
          </p:cNvPr>
          <p:cNvSpPr/>
          <p:nvPr/>
        </p:nvSpPr>
        <p:spPr>
          <a:xfrm>
            <a:off x="9111049" y="3522277"/>
            <a:ext cx="1721708" cy="3251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Dense(2048)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3521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F96B9A-23A8-443B-85AC-CDC4077CD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0338"/>
            <a:ext cx="12192000" cy="1132519"/>
          </a:xfrm>
          <a:solidFill>
            <a:schemeClr val="tx2">
              <a:lumMod val="75000"/>
            </a:schemeClr>
          </a:solidFill>
        </p:spPr>
        <p:txBody>
          <a:bodyPr lIns="288000" tIns="432000">
            <a:normAutofit/>
          </a:bodyPr>
          <a:lstStyle/>
          <a:p>
            <a:r>
              <a:rPr lang="ko-KR" altLang="en-US" sz="3600" dirty="0">
                <a:solidFill>
                  <a:schemeClr val="bg1">
                    <a:lumMod val="95000"/>
                  </a:schemeClr>
                </a:solidFill>
              </a:rPr>
              <a:t>데이터 </a:t>
            </a:r>
            <a:r>
              <a:rPr lang="ko-KR" altLang="en-US" sz="3600" dirty="0" err="1">
                <a:solidFill>
                  <a:schemeClr val="bg1">
                    <a:lumMod val="95000"/>
                  </a:schemeClr>
                </a:solidFill>
              </a:rPr>
              <a:t>전처리</a:t>
            </a:r>
            <a:r>
              <a:rPr lang="ko-KR" altLang="en-US" sz="3600" dirty="0">
                <a:solidFill>
                  <a:schemeClr val="bg1">
                    <a:lumMod val="95000"/>
                  </a:schemeClr>
                </a:solidFill>
              </a:rPr>
              <a:t> 이미지 </a:t>
            </a:r>
            <a:r>
              <a:rPr lang="ko-KR" altLang="en-US" sz="3600" dirty="0" err="1">
                <a:solidFill>
                  <a:schemeClr val="bg1">
                    <a:lumMod val="95000"/>
                  </a:schemeClr>
                </a:solidFill>
              </a:rPr>
              <a:t>특성찾기</a:t>
            </a:r>
            <a:endParaRPr lang="ko-KR" altLang="en-US" sz="360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DDBEC17-3D3D-4E72-9B33-84703BBFBD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52" y="1261031"/>
            <a:ext cx="9603493" cy="5172719"/>
          </a:xfrm>
          <a:prstGeom prst="rect">
            <a:avLst/>
          </a:prstGeom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4F97735-FD78-4C85-93B3-76A470D0F079}"/>
              </a:ext>
            </a:extLst>
          </p:cNvPr>
          <p:cNvSpPr/>
          <p:nvPr/>
        </p:nvSpPr>
        <p:spPr>
          <a:xfrm>
            <a:off x="9111049" y="1261031"/>
            <a:ext cx="1721708" cy="6343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8B8AA0C-996B-451B-B81B-358F722AE038}"/>
              </a:ext>
            </a:extLst>
          </p:cNvPr>
          <p:cNvSpPr/>
          <p:nvPr/>
        </p:nvSpPr>
        <p:spPr>
          <a:xfrm>
            <a:off x="9111049" y="2022530"/>
            <a:ext cx="1721708" cy="6343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CNN</a:t>
            </a:r>
            <a:endParaRPr lang="ko-KR" altLang="en-US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0A6D46C-6C4D-4E77-83F8-D1315E2C9F0E}"/>
              </a:ext>
            </a:extLst>
          </p:cNvPr>
          <p:cNvSpPr/>
          <p:nvPr/>
        </p:nvSpPr>
        <p:spPr>
          <a:xfrm>
            <a:off x="9111049" y="2784029"/>
            <a:ext cx="1721708" cy="6343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Fully Connected</a:t>
            </a:r>
            <a:endParaRPr lang="ko-KR" altLang="en-US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CE87766-D1C2-4EB8-8618-18F203BA2FF8}"/>
              </a:ext>
            </a:extLst>
          </p:cNvPr>
          <p:cNvSpPr/>
          <p:nvPr/>
        </p:nvSpPr>
        <p:spPr>
          <a:xfrm>
            <a:off x="9111049" y="3951324"/>
            <a:ext cx="1721708" cy="6343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Dense(</a:t>
            </a:r>
            <a:r>
              <a:rPr lang="en-US" altLang="ko-KR" sz="1600" dirty="0" err="1"/>
              <a:t>softmax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B387608-C537-402B-84A8-677A8CFF74F8}"/>
              </a:ext>
            </a:extLst>
          </p:cNvPr>
          <p:cNvSpPr/>
          <p:nvPr/>
        </p:nvSpPr>
        <p:spPr>
          <a:xfrm>
            <a:off x="9111049" y="3522277"/>
            <a:ext cx="1721708" cy="3251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Dense(2048)</a:t>
            </a:r>
            <a:endParaRPr lang="ko-KR" altLang="en-US" dirty="0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387F89C4-953B-4DA9-BA12-E88F5931DF54}"/>
              </a:ext>
            </a:extLst>
          </p:cNvPr>
          <p:cNvCxnSpPr/>
          <p:nvPr/>
        </p:nvCxnSpPr>
        <p:spPr>
          <a:xfrm flipV="1">
            <a:off x="8814486" y="4046240"/>
            <a:ext cx="2215979" cy="501046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554A4ED-4662-4D4A-9A42-5C1C1D5F032D}"/>
              </a:ext>
            </a:extLst>
          </p:cNvPr>
          <p:cNvSpPr/>
          <p:nvPr/>
        </p:nvSpPr>
        <p:spPr>
          <a:xfrm>
            <a:off x="3929449" y="1746422"/>
            <a:ext cx="1013254" cy="27610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50586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F96B9A-23A8-443B-85AC-CDC4077CD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0338"/>
            <a:ext cx="12192000" cy="1132519"/>
          </a:xfrm>
          <a:solidFill>
            <a:schemeClr val="tx2">
              <a:lumMod val="75000"/>
            </a:schemeClr>
          </a:solidFill>
        </p:spPr>
        <p:txBody>
          <a:bodyPr lIns="288000" tIns="432000">
            <a:normAutofit/>
          </a:bodyPr>
          <a:lstStyle/>
          <a:p>
            <a:r>
              <a:rPr lang="ko-KR" altLang="en-US" sz="3600" dirty="0">
                <a:solidFill>
                  <a:schemeClr val="bg1">
                    <a:lumMod val="95000"/>
                  </a:schemeClr>
                </a:solidFill>
              </a:rPr>
              <a:t>데이터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DB624AC-506B-48E4-9961-097C12B9FD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17" y="1197575"/>
            <a:ext cx="8358574" cy="545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2236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F96B9A-23A8-443B-85AC-CDC4077CD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0338"/>
            <a:ext cx="12192000" cy="1132519"/>
          </a:xfrm>
          <a:solidFill>
            <a:schemeClr val="tx2">
              <a:lumMod val="75000"/>
            </a:schemeClr>
          </a:solidFill>
        </p:spPr>
        <p:txBody>
          <a:bodyPr lIns="288000" tIns="432000">
            <a:normAutofit/>
          </a:bodyPr>
          <a:lstStyle/>
          <a:p>
            <a:r>
              <a:rPr lang="ko-KR" altLang="en-US" sz="3600" dirty="0">
                <a:solidFill>
                  <a:schemeClr val="bg1">
                    <a:lumMod val="95000"/>
                  </a:schemeClr>
                </a:solidFill>
              </a:rPr>
              <a:t>데이터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DB624AC-506B-48E4-9961-097C12B9FD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17" y="1197575"/>
            <a:ext cx="8358574" cy="54503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E60591-9127-40C6-8319-697E091A352B}"/>
              </a:ext>
            </a:extLst>
          </p:cNvPr>
          <p:cNvSpPr txBox="1"/>
          <p:nvPr/>
        </p:nvSpPr>
        <p:spPr>
          <a:xfrm>
            <a:off x="2224216" y="1729946"/>
            <a:ext cx="7575271" cy="44401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477226-7D81-4178-AD7C-15E34619FEF4}"/>
              </a:ext>
            </a:extLst>
          </p:cNvPr>
          <p:cNvSpPr txBox="1"/>
          <p:nvPr/>
        </p:nvSpPr>
        <p:spPr>
          <a:xfrm>
            <a:off x="2817338" y="1910536"/>
            <a:ext cx="2215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이미지</a:t>
            </a:r>
            <a:r>
              <a:rPr lang="en-US" altLang="ko-KR" dirty="0"/>
              <a:t>, </a:t>
            </a:r>
            <a:r>
              <a:rPr lang="ko-KR" altLang="en-US" dirty="0"/>
              <a:t>문장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007012-4024-42F1-B504-12ECCBC0D2D1}"/>
              </a:ext>
            </a:extLst>
          </p:cNvPr>
          <p:cNvSpPr txBox="1"/>
          <p:nvPr/>
        </p:nvSpPr>
        <p:spPr>
          <a:xfrm>
            <a:off x="2842052" y="2855765"/>
            <a:ext cx="4382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문장</a:t>
            </a:r>
            <a:r>
              <a:rPr lang="en-US" altLang="ko-KR" dirty="0"/>
              <a:t> : ‘start student goes to school end’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9F9F25-C4DA-4DA4-8D44-33BFF4BD99CF}"/>
              </a:ext>
            </a:extLst>
          </p:cNvPr>
          <p:cNvSpPr txBox="1"/>
          <p:nvPr/>
        </p:nvSpPr>
        <p:spPr>
          <a:xfrm>
            <a:off x="2842052" y="3252742"/>
            <a:ext cx="4382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토큰</a:t>
            </a:r>
            <a:r>
              <a:rPr lang="en-US" altLang="ko-KR" dirty="0"/>
              <a:t> : [  1       2       3    4     5      6 ]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F25E99-2905-414D-BCF0-027729655EFF}"/>
              </a:ext>
            </a:extLst>
          </p:cNvPr>
          <p:cNvSpPr txBox="1"/>
          <p:nvPr/>
        </p:nvSpPr>
        <p:spPr>
          <a:xfrm>
            <a:off x="5747720" y="4388028"/>
            <a:ext cx="43825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[ 0 0 0 … 0 0 0 0 0 1]         2</a:t>
            </a:r>
          </a:p>
          <a:p>
            <a:r>
              <a:rPr lang="en-US" altLang="ko-KR" dirty="0"/>
              <a:t>[ 0 0 0 … 0 0 0 0 1 2]         3</a:t>
            </a:r>
          </a:p>
          <a:p>
            <a:r>
              <a:rPr lang="en-US" altLang="ko-KR" dirty="0"/>
              <a:t>[ 0 0 0 … 0 0 0 1 2 3]         4</a:t>
            </a:r>
          </a:p>
          <a:p>
            <a:r>
              <a:rPr lang="en-US" altLang="ko-KR" dirty="0"/>
              <a:t>[ 0 0 0 … 0 0 1 2 3 4]         5</a:t>
            </a:r>
          </a:p>
          <a:p>
            <a:r>
              <a:rPr lang="en-US" altLang="ko-KR" dirty="0"/>
              <a:t>[ 0 0 0 … 0 1 2 3 4 5]         6</a:t>
            </a:r>
          </a:p>
          <a:p>
            <a:endParaRPr lang="en-US" altLang="ko-KR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518E49-1C2D-4A00-A47D-50747C066DB6}"/>
              </a:ext>
            </a:extLst>
          </p:cNvPr>
          <p:cNvSpPr txBox="1"/>
          <p:nvPr/>
        </p:nvSpPr>
        <p:spPr>
          <a:xfrm>
            <a:off x="2842052" y="2432559"/>
            <a:ext cx="6044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이미지벡터 </a:t>
            </a:r>
            <a:r>
              <a:rPr lang="en-US" altLang="ko-KR" dirty="0"/>
              <a:t>: [0.1, 0.2,…..., …    ….    ….   0.7, 0.8]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771F7C-C6CA-47BC-AFB3-D81BC2B22849}"/>
              </a:ext>
            </a:extLst>
          </p:cNvPr>
          <p:cNvSpPr txBox="1"/>
          <p:nvPr/>
        </p:nvSpPr>
        <p:spPr>
          <a:xfrm>
            <a:off x="2370636" y="4387316"/>
            <a:ext cx="3822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[0.1, 0.2,…..., …    0.7, 0.8]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879027-3D8D-4BBC-B927-713748CBDFF8}"/>
              </a:ext>
            </a:extLst>
          </p:cNvPr>
          <p:cNvSpPr txBox="1"/>
          <p:nvPr/>
        </p:nvSpPr>
        <p:spPr>
          <a:xfrm>
            <a:off x="2370636" y="4666795"/>
            <a:ext cx="3822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[0.1, 0.2,…..., …    0.7, 0.8]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20549A9-9CB2-4A1A-8D94-D317C7DB8EB6}"/>
              </a:ext>
            </a:extLst>
          </p:cNvPr>
          <p:cNvSpPr txBox="1"/>
          <p:nvPr/>
        </p:nvSpPr>
        <p:spPr>
          <a:xfrm>
            <a:off x="2370636" y="4946273"/>
            <a:ext cx="3822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[0.1, 0.2,…..., …    0.7, 0.8]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109591-55D7-4DCF-A7AC-248CE7612568}"/>
              </a:ext>
            </a:extLst>
          </p:cNvPr>
          <p:cNvSpPr txBox="1"/>
          <p:nvPr/>
        </p:nvSpPr>
        <p:spPr>
          <a:xfrm>
            <a:off x="2370636" y="5230187"/>
            <a:ext cx="3822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[0.1, 0.2,…..., …    0.7, 0.8]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92EDDA-88D5-43D2-BA0D-0603CB630076}"/>
              </a:ext>
            </a:extLst>
          </p:cNvPr>
          <p:cNvSpPr txBox="1"/>
          <p:nvPr/>
        </p:nvSpPr>
        <p:spPr>
          <a:xfrm>
            <a:off x="2370635" y="5478644"/>
            <a:ext cx="3822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[0.1, 0.2,…..., …    0.7, 0.8]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CCAF23-1287-4C36-BA83-6D5630504407}"/>
              </a:ext>
            </a:extLst>
          </p:cNvPr>
          <p:cNvSpPr txBox="1"/>
          <p:nvPr/>
        </p:nvSpPr>
        <p:spPr>
          <a:xfrm>
            <a:off x="2692843" y="3931569"/>
            <a:ext cx="6451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         X1                                     X2                     y</a:t>
            </a:r>
            <a:endParaRPr lang="ko-KR" altLang="en-US" dirty="0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70918273-4083-4031-9308-4FDE69539C9E}"/>
              </a:ext>
            </a:extLst>
          </p:cNvPr>
          <p:cNvCxnSpPr/>
          <p:nvPr/>
        </p:nvCxnSpPr>
        <p:spPr>
          <a:xfrm>
            <a:off x="2512540" y="3729823"/>
            <a:ext cx="647745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9139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048EF22-D6E3-4345-94C0-E61A7DBA51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076" y="1162564"/>
            <a:ext cx="7984829" cy="5419467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AE27FF36-DB9F-432C-9B35-BE7E87D1A64D}"/>
              </a:ext>
            </a:extLst>
          </p:cNvPr>
          <p:cNvSpPr/>
          <p:nvPr/>
        </p:nvSpPr>
        <p:spPr>
          <a:xfrm>
            <a:off x="7216346" y="1069775"/>
            <a:ext cx="4975654" cy="57958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F96B9A-23A8-443B-85AC-CDC4077CD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0338"/>
            <a:ext cx="12192000" cy="1132519"/>
          </a:xfrm>
          <a:solidFill>
            <a:schemeClr val="tx2">
              <a:lumMod val="75000"/>
            </a:schemeClr>
          </a:solidFill>
        </p:spPr>
        <p:txBody>
          <a:bodyPr lIns="288000" tIns="432000">
            <a:normAutofit/>
          </a:bodyPr>
          <a:lstStyle/>
          <a:p>
            <a:r>
              <a:rPr lang="ko-KR" altLang="en-US" sz="3600" dirty="0">
                <a:solidFill>
                  <a:schemeClr val="bg1">
                    <a:lumMod val="95000"/>
                  </a:schemeClr>
                </a:solidFill>
              </a:rPr>
              <a:t>모델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2763A05C-74E0-4032-A004-C43853E3AF5B}"/>
              </a:ext>
            </a:extLst>
          </p:cNvPr>
          <p:cNvSpPr/>
          <p:nvPr/>
        </p:nvSpPr>
        <p:spPr>
          <a:xfrm>
            <a:off x="1968843" y="4481384"/>
            <a:ext cx="3295135" cy="26361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0C7851C-280D-4544-90FD-3BB40A9C8BA3}"/>
              </a:ext>
            </a:extLst>
          </p:cNvPr>
          <p:cNvSpPr txBox="1"/>
          <p:nvPr/>
        </p:nvSpPr>
        <p:spPr>
          <a:xfrm>
            <a:off x="8379723" y="3285284"/>
            <a:ext cx="36310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ysClr val="windowText" lastClr="000000"/>
                </a:solidFill>
              </a:rPr>
              <a:t>[[ 0, 0, 0, 0, ....                       ],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 [ 0.5, 0.2, 0.3, 0.4, 0.1, …         ],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 [                  …                   ],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                    …  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 [0.1, 0.2, 0.3, 0.4, …               ]]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FDFF0F-9D24-412B-A133-7CB24BB809D6}"/>
              </a:ext>
            </a:extLst>
          </p:cNvPr>
          <p:cNvSpPr txBox="1"/>
          <p:nvPr/>
        </p:nvSpPr>
        <p:spPr>
          <a:xfrm>
            <a:off x="7500167" y="3294169"/>
            <a:ext cx="75223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0</a:t>
            </a:r>
          </a:p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</a:p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</a:p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…</a:t>
            </a:r>
          </a:p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1948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E3180A-D2DC-4D1E-962A-178522E2B9B0}"/>
              </a:ext>
            </a:extLst>
          </p:cNvPr>
          <p:cNvSpPr txBox="1"/>
          <p:nvPr/>
        </p:nvSpPr>
        <p:spPr>
          <a:xfrm>
            <a:off x="7500167" y="1499666"/>
            <a:ext cx="116153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start  </a:t>
            </a:r>
          </a:p>
          <a:p>
            <a:pPr algn="ctr"/>
            <a:r>
              <a:rPr lang="en-US" altLang="ko-KR" sz="1400" dirty="0"/>
              <a:t>student</a:t>
            </a:r>
          </a:p>
          <a:p>
            <a:pPr algn="ctr"/>
            <a:r>
              <a:rPr lang="en-US" altLang="ko-KR" sz="1400" dirty="0"/>
              <a:t>goes</a:t>
            </a:r>
          </a:p>
          <a:p>
            <a:pPr algn="ctr"/>
            <a:r>
              <a:rPr lang="en-US" altLang="ko-KR" sz="1400" dirty="0"/>
              <a:t>to</a:t>
            </a:r>
          </a:p>
          <a:p>
            <a:pPr algn="ctr"/>
            <a:r>
              <a:rPr lang="en-US" altLang="ko-KR" sz="1400" dirty="0"/>
              <a:t>school</a:t>
            </a:r>
          </a:p>
          <a:p>
            <a:pPr algn="ctr"/>
            <a:r>
              <a:rPr lang="en-US" altLang="ko-KR" sz="1400" dirty="0"/>
              <a:t>end</a:t>
            </a:r>
            <a:endParaRPr lang="ko-KR" alt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7FBEC9-0CBF-4D10-A37F-1036C64A2BA5}"/>
              </a:ext>
            </a:extLst>
          </p:cNvPr>
          <p:cNvSpPr txBox="1"/>
          <p:nvPr/>
        </p:nvSpPr>
        <p:spPr>
          <a:xfrm>
            <a:off x="8658513" y="1507260"/>
            <a:ext cx="41189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1</a:t>
            </a:r>
          </a:p>
          <a:p>
            <a:r>
              <a:rPr lang="en-US" altLang="ko-KR" sz="1400" dirty="0"/>
              <a:t>2</a:t>
            </a:r>
          </a:p>
          <a:p>
            <a:r>
              <a:rPr lang="en-US" altLang="ko-KR" sz="1400" dirty="0"/>
              <a:t>3</a:t>
            </a:r>
          </a:p>
          <a:p>
            <a:r>
              <a:rPr lang="en-US" altLang="ko-KR" sz="1400" dirty="0"/>
              <a:t>4</a:t>
            </a:r>
          </a:p>
          <a:p>
            <a:r>
              <a:rPr lang="en-US" altLang="ko-KR" sz="1400" dirty="0"/>
              <a:t>5</a:t>
            </a:r>
          </a:p>
          <a:p>
            <a:r>
              <a:rPr lang="en-US" altLang="ko-KR" sz="1400" dirty="0"/>
              <a:t>6</a:t>
            </a:r>
            <a:endParaRPr lang="ko-KR" alt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5AC44C-E774-4F91-BDB8-6C908D74C67D}"/>
              </a:ext>
            </a:extLst>
          </p:cNvPr>
          <p:cNvSpPr txBox="1"/>
          <p:nvPr/>
        </p:nvSpPr>
        <p:spPr>
          <a:xfrm>
            <a:off x="10090056" y="1540749"/>
            <a:ext cx="116153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0</a:t>
            </a:r>
          </a:p>
          <a:p>
            <a:r>
              <a:rPr lang="en-US" altLang="ko-KR" sz="1400" dirty="0"/>
              <a:t>0</a:t>
            </a:r>
          </a:p>
          <a:p>
            <a:r>
              <a:rPr lang="en-US" altLang="ko-KR" sz="1400" dirty="0"/>
              <a:t>…        4</a:t>
            </a:r>
          </a:p>
          <a:p>
            <a:r>
              <a:rPr lang="en-US" altLang="ko-KR" sz="1400" dirty="0"/>
              <a:t>0</a:t>
            </a:r>
          </a:p>
          <a:p>
            <a:r>
              <a:rPr lang="en-US" altLang="ko-KR" sz="1400" dirty="0"/>
              <a:t>2</a:t>
            </a:r>
          </a:p>
          <a:p>
            <a:r>
              <a:rPr lang="en-US" altLang="ko-KR" sz="1400" dirty="0"/>
              <a:t>3</a:t>
            </a:r>
            <a:endParaRPr lang="ko-KR" altLang="en-US" sz="1400" dirty="0"/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11068C3C-D39A-4C06-AFE0-B47ADD7ED485}"/>
              </a:ext>
            </a:extLst>
          </p:cNvPr>
          <p:cNvCxnSpPr>
            <a:cxnSpLocks/>
          </p:cNvCxnSpPr>
          <p:nvPr/>
        </p:nvCxnSpPr>
        <p:spPr>
          <a:xfrm>
            <a:off x="10390738" y="2121072"/>
            <a:ext cx="3789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F17282A9-FE07-4948-9559-2FDA969A64B1}"/>
              </a:ext>
            </a:extLst>
          </p:cNvPr>
          <p:cNvSpPr txBox="1"/>
          <p:nvPr/>
        </p:nvSpPr>
        <p:spPr>
          <a:xfrm>
            <a:off x="7685862" y="5074278"/>
            <a:ext cx="3808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</a:t>
            </a:r>
          </a:p>
          <a:p>
            <a:r>
              <a:rPr lang="en-US" altLang="ko-KR" dirty="0"/>
              <a:t>0</a:t>
            </a:r>
          </a:p>
          <a:p>
            <a:r>
              <a:rPr lang="en-US" altLang="ko-KR" dirty="0"/>
              <a:t>…</a:t>
            </a:r>
          </a:p>
          <a:p>
            <a:r>
              <a:rPr lang="en-US" altLang="ko-KR" dirty="0"/>
              <a:t>0</a:t>
            </a:r>
          </a:p>
          <a:p>
            <a:r>
              <a:rPr lang="en-US" altLang="ko-KR" dirty="0"/>
              <a:t>2</a:t>
            </a:r>
          </a:p>
          <a:p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5720FCB-F91E-4D77-8C15-2B0BC0C4858F}"/>
              </a:ext>
            </a:extLst>
          </p:cNvPr>
          <p:cNvSpPr txBox="1"/>
          <p:nvPr/>
        </p:nvSpPr>
        <p:spPr>
          <a:xfrm>
            <a:off x="7364243" y="4720511"/>
            <a:ext cx="1024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inputs2</a:t>
            </a:r>
            <a:endParaRPr lang="ko-KR" alt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B7CD3FB-A4E4-4182-B48C-B150D2B92D32}"/>
              </a:ext>
            </a:extLst>
          </p:cNvPr>
          <p:cNvSpPr txBox="1"/>
          <p:nvPr/>
        </p:nvSpPr>
        <p:spPr>
          <a:xfrm>
            <a:off x="9065663" y="4696708"/>
            <a:ext cx="250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Se1 (</a:t>
            </a:r>
            <a:r>
              <a:rPr lang="en-US" altLang="ko-KR" dirty="0" err="1"/>
              <a:t>max_length</a:t>
            </a:r>
            <a:r>
              <a:rPr lang="en-US" altLang="ko-KR" dirty="0"/>
              <a:t>, 200)</a:t>
            </a:r>
            <a:endParaRPr lang="ko-KR" altLang="en-US" dirty="0"/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5A7B8D8C-61DB-46AE-9F83-599AAA896E4D}"/>
              </a:ext>
            </a:extLst>
          </p:cNvPr>
          <p:cNvCxnSpPr/>
          <p:nvPr/>
        </p:nvCxnSpPr>
        <p:spPr>
          <a:xfrm>
            <a:off x="7364243" y="2883241"/>
            <a:ext cx="470968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2021DED7-D64F-443E-98B8-27E7CE9A8E42}"/>
              </a:ext>
            </a:extLst>
          </p:cNvPr>
          <p:cNvCxnSpPr/>
          <p:nvPr/>
        </p:nvCxnSpPr>
        <p:spPr>
          <a:xfrm>
            <a:off x="7364243" y="4736193"/>
            <a:ext cx="470968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DFF4038D-9A8F-4A79-827E-1C08D138E77C}"/>
              </a:ext>
            </a:extLst>
          </p:cNvPr>
          <p:cNvSpPr txBox="1"/>
          <p:nvPr/>
        </p:nvSpPr>
        <p:spPr>
          <a:xfrm>
            <a:off x="8350919" y="5056249"/>
            <a:ext cx="377310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[0, 0, 0, 0, 0, ……                     0]</a:t>
            </a:r>
          </a:p>
          <a:p>
            <a:r>
              <a:rPr lang="en-US" altLang="ko-KR" dirty="0"/>
              <a:t>[0, 0, 0, 0, 0, ……                     0]</a:t>
            </a:r>
          </a:p>
          <a:p>
            <a:r>
              <a:rPr lang="en-US" altLang="ko-KR" dirty="0"/>
              <a:t>…</a:t>
            </a:r>
          </a:p>
          <a:p>
            <a:r>
              <a:rPr lang="en-US" altLang="ko-KR" dirty="0"/>
              <a:t>[0.1, 0.3, 0.2, …...                   0.4]</a:t>
            </a:r>
          </a:p>
          <a:p>
            <a:r>
              <a:rPr lang="en-US" altLang="ko-KR" dirty="0"/>
              <a:t>[0.2, 0.3, 0.2, …...                   0.5]</a:t>
            </a:r>
          </a:p>
          <a:p>
            <a:r>
              <a:rPr lang="en-US" altLang="ko-KR" dirty="0"/>
              <a:t>[0.1, 0.1, 0.2, …...                   0.4]</a:t>
            </a: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9595AC3D-359D-4CCA-A7CA-25C4CF0671A6}"/>
              </a:ext>
            </a:extLst>
          </p:cNvPr>
          <p:cNvCxnSpPr/>
          <p:nvPr/>
        </p:nvCxnSpPr>
        <p:spPr>
          <a:xfrm>
            <a:off x="8066709" y="5933412"/>
            <a:ext cx="2842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F04748EE-6479-40D6-BE7B-5C8622A7E36F}"/>
              </a:ext>
            </a:extLst>
          </p:cNvPr>
          <p:cNvSpPr txBox="1"/>
          <p:nvPr/>
        </p:nvSpPr>
        <p:spPr>
          <a:xfrm>
            <a:off x="8714374" y="2898924"/>
            <a:ext cx="22324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Embedding matrix</a:t>
            </a:r>
            <a:endParaRPr lang="ko-KR" altLang="en-US" sz="16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ABF785B-6EB6-4F23-B6FC-0EFAAA04FE89}"/>
              </a:ext>
            </a:extLst>
          </p:cNvPr>
          <p:cNvSpPr txBox="1"/>
          <p:nvPr/>
        </p:nvSpPr>
        <p:spPr>
          <a:xfrm>
            <a:off x="9605319" y="1101666"/>
            <a:ext cx="2518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Inputs2  (</a:t>
            </a:r>
            <a:r>
              <a:rPr lang="en-US" altLang="ko-KR" dirty="0" err="1"/>
              <a:t>max_length</a:t>
            </a:r>
            <a:r>
              <a:rPr lang="en-US" altLang="ko-KR" dirty="0"/>
              <a:t>,)</a:t>
            </a:r>
            <a:endParaRPr lang="ko-KR" alt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08C045F-2A05-4F46-8B9A-2B46029E4F15}"/>
              </a:ext>
            </a:extLst>
          </p:cNvPr>
          <p:cNvSpPr txBox="1"/>
          <p:nvPr/>
        </p:nvSpPr>
        <p:spPr>
          <a:xfrm>
            <a:off x="7630356" y="1122741"/>
            <a:ext cx="1632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 문장    토큰</a:t>
            </a:r>
          </a:p>
        </p:txBody>
      </p:sp>
    </p:spTree>
    <p:extLst>
      <p:ext uri="{BB962C8B-B14F-4D97-AF65-F5344CB8AC3E}">
        <p14:creationId xmlns:p14="http://schemas.microsoft.com/office/powerpoint/2010/main" val="33627018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F96B9A-23A8-443B-85AC-CDC4077CD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0338"/>
            <a:ext cx="12192000" cy="1132519"/>
          </a:xfrm>
          <a:solidFill>
            <a:schemeClr val="tx2">
              <a:lumMod val="75000"/>
            </a:schemeClr>
          </a:solidFill>
        </p:spPr>
        <p:txBody>
          <a:bodyPr lIns="288000" tIns="432000">
            <a:normAutofit/>
          </a:bodyPr>
          <a:lstStyle/>
          <a:p>
            <a:r>
              <a:rPr lang="ko-KR" altLang="en-US" sz="3600" dirty="0">
                <a:solidFill>
                  <a:schemeClr val="bg1">
                    <a:lumMod val="95000"/>
                  </a:schemeClr>
                </a:solidFill>
              </a:rPr>
              <a:t>모델 </a:t>
            </a:r>
            <a:r>
              <a:rPr lang="en-US" altLang="ko-KR" sz="1800" dirty="0">
                <a:solidFill>
                  <a:schemeClr val="bg1">
                    <a:lumMod val="95000"/>
                  </a:schemeClr>
                </a:solidFill>
              </a:rPr>
              <a:t>Summary</a:t>
            </a:r>
            <a:endParaRPr lang="ko-KR" altLang="en-US" sz="360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D1DCF9A-8A36-4EA8-8501-2F4B1B0E55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375" y="1631349"/>
            <a:ext cx="8477250" cy="478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1951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F96B9A-23A8-443B-85AC-CDC4077CD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0338"/>
            <a:ext cx="12192000" cy="1132519"/>
          </a:xfrm>
          <a:solidFill>
            <a:schemeClr val="tx2">
              <a:lumMod val="75000"/>
            </a:schemeClr>
          </a:solidFill>
        </p:spPr>
        <p:txBody>
          <a:bodyPr lIns="288000" tIns="432000">
            <a:normAutofit/>
          </a:bodyPr>
          <a:lstStyle/>
          <a:p>
            <a:r>
              <a:rPr lang="ko-KR" altLang="en-US" sz="3600" dirty="0">
                <a:solidFill>
                  <a:schemeClr val="bg1">
                    <a:lumMod val="95000"/>
                  </a:schemeClr>
                </a:solidFill>
              </a:rPr>
              <a:t>모델</a:t>
            </a:r>
            <a:r>
              <a:rPr lang="ko-KR" altLang="en-US" sz="1800" dirty="0">
                <a:solidFill>
                  <a:schemeClr val="bg1">
                    <a:lumMod val="95000"/>
                  </a:schemeClr>
                </a:solidFill>
              </a:rPr>
              <a:t>  </a:t>
            </a:r>
            <a:r>
              <a:rPr lang="en-US" altLang="ko-KR" sz="1800" dirty="0">
                <a:solidFill>
                  <a:schemeClr val="bg1">
                    <a:lumMod val="95000"/>
                  </a:schemeClr>
                </a:solidFill>
              </a:rPr>
              <a:t>Parameter - Dropout</a:t>
            </a:r>
            <a:endParaRPr lang="ko-KR" altLang="en-US" sz="180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A166D0E-7CAF-4321-A89D-82E34B6226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430" y="2168333"/>
            <a:ext cx="5361130" cy="364820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0F851A6-9647-4B72-A5ED-AB5C089AC8E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36"/>
          <a:stretch/>
        </p:blipFill>
        <p:spPr>
          <a:xfrm>
            <a:off x="6241678" y="2986168"/>
            <a:ext cx="5162550" cy="942365"/>
          </a:xfrm>
          <a:prstGeom prst="rect">
            <a:avLst/>
          </a:prstGeom>
        </p:spPr>
      </p:pic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81A66C1-BE37-4925-B93C-0EC5126DC4C4}"/>
              </a:ext>
            </a:extLst>
          </p:cNvPr>
          <p:cNvSpPr/>
          <p:nvPr/>
        </p:nvSpPr>
        <p:spPr>
          <a:xfrm>
            <a:off x="8378110" y="2986168"/>
            <a:ext cx="1079157" cy="21920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9115E723-C07E-4CAF-8CAB-233F0449CD31}"/>
              </a:ext>
            </a:extLst>
          </p:cNvPr>
          <p:cNvSpPr/>
          <p:nvPr/>
        </p:nvSpPr>
        <p:spPr>
          <a:xfrm>
            <a:off x="9533238" y="2973361"/>
            <a:ext cx="1079157" cy="21920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D1454F89-3CC0-4F56-AC49-4335393705C2}"/>
              </a:ext>
            </a:extLst>
          </p:cNvPr>
          <p:cNvSpPr/>
          <p:nvPr/>
        </p:nvSpPr>
        <p:spPr>
          <a:xfrm>
            <a:off x="10095241" y="3776150"/>
            <a:ext cx="1166112" cy="21920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C3EE0F20-BF15-47D2-B4E9-3DE9BB66D1A3}"/>
              </a:ext>
            </a:extLst>
          </p:cNvPr>
          <p:cNvSpPr/>
          <p:nvPr/>
        </p:nvSpPr>
        <p:spPr>
          <a:xfrm>
            <a:off x="8993659" y="3776151"/>
            <a:ext cx="1079157" cy="21920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3F0A6387-95CA-4201-AC51-05D33533DEA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281" t="11598" r="36" b="3493"/>
          <a:stretch/>
        </p:blipFill>
        <p:spPr>
          <a:xfrm>
            <a:off x="5333492" y="5040911"/>
            <a:ext cx="3268870" cy="1019175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AA8AE41B-6F21-41A3-8870-E6E7CFFCE54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606" t="14412"/>
          <a:stretch/>
        </p:blipFill>
        <p:spPr>
          <a:xfrm>
            <a:off x="8678333" y="5040912"/>
            <a:ext cx="3067414" cy="1019175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039FEDFC-5E81-480E-A2F7-A0601C99B43D}"/>
              </a:ext>
            </a:extLst>
          </p:cNvPr>
          <p:cNvSpPr txBox="1"/>
          <p:nvPr/>
        </p:nvSpPr>
        <p:spPr>
          <a:xfrm>
            <a:off x="6331776" y="4551405"/>
            <a:ext cx="1439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drop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0.3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798357A-7035-43BD-8B58-2704426197F9}"/>
              </a:ext>
            </a:extLst>
          </p:cNvPr>
          <p:cNvSpPr txBox="1"/>
          <p:nvPr/>
        </p:nvSpPr>
        <p:spPr>
          <a:xfrm>
            <a:off x="9632635" y="4551405"/>
            <a:ext cx="1439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drop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0.4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13E723C-C0BC-4F76-A676-3BA93930C8B8}"/>
              </a:ext>
            </a:extLst>
          </p:cNvPr>
          <p:cNvSpPr txBox="1"/>
          <p:nvPr/>
        </p:nvSpPr>
        <p:spPr>
          <a:xfrm>
            <a:off x="6829815" y="1953832"/>
            <a:ext cx="1439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drop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X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4A8EE283-F2D1-40B1-BB28-018C83BAD68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606"/>
          <a:stretch/>
        </p:blipFill>
        <p:spPr>
          <a:xfrm>
            <a:off x="8269148" y="1481338"/>
            <a:ext cx="3067414" cy="1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5311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F96B9A-23A8-443B-85AC-CDC4077CD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0338"/>
            <a:ext cx="12192000" cy="1132519"/>
          </a:xfrm>
          <a:solidFill>
            <a:schemeClr val="tx2">
              <a:lumMod val="75000"/>
            </a:schemeClr>
          </a:solidFill>
        </p:spPr>
        <p:txBody>
          <a:bodyPr lIns="288000" tIns="432000">
            <a:normAutofit/>
          </a:bodyPr>
          <a:lstStyle/>
          <a:p>
            <a:r>
              <a:rPr lang="ko-KR" altLang="en-US" sz="3600" dirty="0">
                <a:solidFill>
                  <a:schemeClr val="bg1">
                    <a:lumMod val="95000"/>
                  </a:schemeClr>
                </a:solidFill>
              </a:rPr>
              <a:t>모델</a:t>
            </a:r>
            <a:r>
              <a:rPr lang="ko-KR" altLang="en-US" sz="1800" dirty="0">
                <a:solidFill>
                  <a:schemeClr val="bg1">
                    <a:lumMod val="95000"/>
                  </a:schemeClr>
                </a:solidFill>
              </a:rPr>
              <a:t>  </a:t>
            </a:r>
            <a:r>
              <a:rPr lang="en-US" altLang="ko-KR" sz="1800" dirty="0">
                <a:solidFill>
                  <a:schemeClr val="bg1">
                    <a:lumMod val="95000"/>
                  </a:schemeClr>
                </a:solidFill>
              </a:rPr>
              <a:t>Parameter - Concatenate</a:t>
            </a:r>
            <a:endParaRPr lang="ko-KR" altLang="en-US" sz="180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0F851A6-9647-4B72-A5ED-AB5C089AC8E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36"/>
          <a:stretch/>
        </p:blipFill>
        <p:spPr>
          <a:xfrm>
            <a:off x="6241678" y="2986168"/>
            <a:ext cx="5162550" cy="942365"/>
          </a:xfrm>
          <a:prstGeom prst="rect">
            <a:avLst/>
          </a:prstGeom>
        </p:spPr>
      </p:pic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81A66C1-BE37-4925-B93C-0EC5126DC4C4}"/>
              </a:ext>
            </a:extLst>
          </p:cNvPr>
          <p:cNvSpPr/>
          <p:nvPr/>
        </p:nvSpPr>
        <p:spPr>
          <a:xfrm>
            <a:off x="8378110" y="2986168"/>
            <a:ext cx="1079157" cy="21920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9115E723-C07E-4CAF-8CAB-233F0449CD31}"/>
              </a:ext>
            </a:extLst>
          </p:cNvPr>
          <p:cNvSpPr/>
          <p:nvPr/>
        </p:nvSpPr>
        <p:spPr>
          <a:xfrm>
            <a:off x="9533238" y="2973361"/>
            <a:ext cx="1079157" cy="21920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D1454F89-3CC0-4F56-AC49-4335393705C2}"/>
              </a:ext>
            </a:extLst>
          </p:cNvPr>
          <p:cNvSpPr/>
          <p:nvPr/>
        </p:nvSpPr>
        <p:spPr>
          <a:xfrm>
            <a:off x="10095241" y="3776150"/>
            <a:ext cx="1166112" cy="21920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C3EE0F20-BF15-47D2-B4E9-3DE9BB66D1A3}"/>
              </a:ext>
            </a:extLst>
          </p:cNvPr>
          <p:cNvSpPr/>
          <p:nvPr/>
        </p:nvSpPr>
        <p:spPr>
          <a:xfrm>
            <a:off x="8993659" y="3776151"/>
            <a:ext cx="1079157" cy="21920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3F0A6387-95CA-4201-AC51-05D33533DEA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281" t="11598" r="36" b="3493"/>
          <a:stretch/>
        </p:blipFill>
        <p:spPr>
          <a:xfrm>
            <a:off x="5333492" y="5040911"/>
            <a:ext cx="3268870" cy="1019175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AA8AE41B-6F21-41A3-8870-E6E7CFFCE54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606" t="14412"/>
          <a:stretch/>
        </p:blipFill>
        <p:spPr>
          <a:xfrm>
            <a:off x="8678333" y="5040912"/>
            <a:ext cx="3067414" cy="1019175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039FEDFC-5E81-480E-A2F7-A0601C99B43D}"/>
              </a:ext>
            </a:extLst>
          </p:cNvPr>
          <p:cNvSpPr txBox="1"/>
          <p:nvPr/>
        </p:nvSpPr>
        <p:spPr>
          <a:xfrm>
            <a:off x="6331776" y="4551405"/>
            <a:ext cx="1439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drop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0.3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798357A-7035-43BD-8B58-2704426197F9}"/>
              </a:ext>
            </a:extLst>
          </p:cNvPr>
          <p:cNvSpPr txBox="1"/>
          <p:nvPr/>
        </p:nvSpPr>
        <p:spPr>
          <a:xfrm>
            <a:off x="9632635" y="4551405"/>
            <a:ext cx="1439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drop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0.4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13E723C-C0BC-4F76-A676-3BA93930C8B8}"/>
              </a:ext>
            </a:extLst>
          </p:cNvPr>
          <p:cNvSpPr txBox="1"/>
          <p:nvPr/>
        </p:nvSpPr>
        <p:spPr>
          <a:xfrm>
            <a:off x="6829815" y="1953832"/>
            <a:ext cx="1439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drop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X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4A8EE283-F2D1-40B1-BB28-018C83BAD68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606"/>
          <a:stretch/>
        </p:blipFill>
        <p:spPr>
          <a:xfrm>
            <a:off x="8269148" y="1481338"/>
            <a:ext cx="3067414" cy="115268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846A54A-ADBB-43CD-AACB-B282F66EB5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64" y="1481338"/>
            <a:ext cx="5410200" cy="471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849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F96B9A-23A8-443B-85AC-CDC4077CD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0338"/>
            <a:ext cx="12192000" cy="1132519"/>
          </a:xfrm>
          <a:solidFill>
            <a:schemeClr val="tx2">
              <a:lumMod val="75000"/>
            </a:schemeClr>
          </a:solidFill>
        </p:spPr>
        <p:txBody>
          <a:bodyPr lIns="288000" tIns="432000">
            <a:normAutofit/>
          </a:bodyPr>
          <a:lstStyle/>
          <a:p>
            <a:r>
              <a:rPr lang="ko-KR" altLang="en-US" sz="3600" dirty="0">
                <a:solidFill>
                  <a:schemeClr val="bg1">
                    <a:lumMod val="95000"/>
                  </a:schemeClr>
                </a:solidFill>
              </a:rPr>
              <a:t>모델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1338168-A75D-4245-B825-C463287126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27" y="1247260"/>
            <a:ext cx="9388582" cy="3736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0632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F96B9A-23A8-443B-85AC-CDC4077CD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0338"/>
            <a:ext cx="12192000" cy="1132519"/>
          </a:xfrm>
          <a:solidFill>
            <a:schemeClr val="tx2">
              <a:lumMod val="75000"/>
            </a:schemeClr>
          </a:solidFill>
        </p:spPr>
        <p:txBody>
          <a:bodyPr lIns="288000" tIns="432000">
            <a:normAutofit/>
          </a:bodyPr>
          <a:lstStyle/>
          <a:p>
            <a:r>
              <a:rPr lang="ko-KR" altLang="en-US" sz="3600" dirty="0">
                <a:solidFill>
                  <a:schemeClr val="bg1">
                    <a:lumMod val="95000"/>
                  </a:schemeClr>
                </a:solidFill>
              </a:rPr>
              <a:t>예측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BCC210-ACBE-41C6-A6E9-481C6BD6522C}"/>
              </a:ext>
            </a:extLst>
          </p:cNvPr>
          <p:cNvSpPr txBox="1"/>
          <p:nvPr/>
        </p:nvSpPr>
        <p:spPr>
          <a:xfrm>
            <a:off x="238897" y="1672281"/>
            <a:ext cx="11590638" cy="45060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E05B12-5354-4285-A47A-FF9E85C04C26}"/>
              </a:ext>
            </a:extLst>
          </p:cNvPr>
          <p:cNvSpPr txBox="1"/>
          <p:nvPr/>
        </p:nvSpPr>
        <p:spPr>
          <a:xfrm>
            <a:off x="531340" y="3186665"/>
            <a:ext cx="110057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이미지 벡터 </a:t>
            </a:r>
            <a:r>
              <a:rPr lang="en-US" altLang="ko-KR" dirty="0"/>
              <a:t>+ ‘start’                                  ‘student’        ‘start’ + ‘ ‘ + ‘student’</a:t>
            </a:r>
          </a:p>
          <a:p>
            <a:r>
              <a:rPr lang="ko-KR" altLang="en-US" dirty="0"/>
              <a:t>이미지 벡터 </a:t>
            </a:r>
            <a:r>
              <a:rPr lang="en-US" altLang="ko-KR" dirty="0"/>
              <a:t>+ ‘start student’                          ‘goes’         ‘start student’ + ‘ ‘ + ‘goes’</a:t>
            </a:r>
          </a:p>
          <a:p>
            <a:r>
              <a:rPr lang="ko-KR" altLang="en-US" dirty="0"/>
              <a:t>이미지 벡터 </a:t>
            </a:r>
            <a:r>
              <a:rPr lang="en-US" altLang="ko-KR" dirty="0"/>
              <a:t>+ ‘start student goes’                    ‘to’           ‘start student goes’ + ‘ ‘ + ‘to’</a:t>
            </a:r>
          </a:p>
          <a:p>
            <a:r>
              <a:rPr lang="ko-KR" altLang="en-US" dirty="0"/>
              <a:t>이미지 벡터 </a:t>
            </a:r>
            <a:r>
              <a:rPr lang="en-US" altLang="ko-KR" dirty="0"/>
              <a:t>+ ‘start student goes to’             ‘school’         ‘start student goes to’ + ‘ ‘ + ‘school’</a:t>
            </a:r>
          </a:p>
          <a:p>
            <a:r>
              <a:rPr lang="ko-KR" altLang="en-US" dirty="0"/>
              <a:t>이미지 벡터 </a:t>
            </a:r>
            <a:r>
              <a:rPr lang="en-US" altLang="ko-KR" dirty="0"/>
              <a:t>+ ‘start student goes to school’      ‘end’          ‘start student goes to school’ + ‘ ‘ + ‘end’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30CDE9-E12A-4653-AEDD-6D590F21B3B8}"/>
              </a:ext>
            </a:extLst>
          </p:cNvPr>
          <p:cNvSpPr txBox="1"/>
          <p:nvPr/>
        </p:nvSpPr>
        <p:spPr>
          <a:xfrm>
            <a:off x="531340" y="2391899"/>
            <a:ext cx="10214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             인풋                                           아웃풋                            연산</a:t>
            </a:r>
          </a:p>
        </p:txBody>
      </p:sp>
    </p:spTree>
    <p:extLst>
      <p:ext uri="{BB962C8B-B14F-4D97-AF65-F5344CB8AC3E}">
        <p14:creationId xmlns:p14="http://schemas.microsoft.com/office/powerpoint/2010/main" val="5041009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F96B9A-23A8-443B-85AC-CDC4077CD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0338"/>
            <a:ext cx="12192000" cy="1132519"/>
          </a:xfrm>
          <a:solidFill>
            <a:schemeClr val="tx2">
              <a:lumMod val="75000"/>
            </a:schemeClr>
          </a:solidFill>
        </p:spPr>
        <p:txBody>
          <a:bodyPr lIns="288000" tIns="432000">
            <a:normAutofit/>
          </a:bodyPr>
          <a:lstStyle/>
          <a:p>
            <a:r>
              <a:rPr lang="ko-KR" altLang="en-US" sz="3600" dirty="0">
                <a:solidFill>
                  <a:schemeClr val="bg1">
                    <a:lumMod val="95000"/>
                  </a:schemeClr>
                </a:solidFill>
              </a:rPr>
              <a:t>예측 </a:t>
            </a:r>
            <a:r>
              <a:rPr lang="ko-KR" altLang="en-US" sz="2000" dirty="0">
                <a:solidFill>
                  <a:schemeClr val="bg1">
                    <a:lumMod val="95000"/>
                  </a:schemeClr>
                </a:solidFill>
              </a:rPr>
              <a:t>시퀀스 예측 </a:t>
            </a:r>
            <a:r>
              <a:rPr lang="en-US" altLang="ko-KR" sz="2000" dirty="0">
                <a:solidFill>
                  <a:schemeClr val="bg1">
                    <a:lumMod val="95000"/>
                  </a:schemeClr>
                </a:solidFill>
              </a:rPr>
              <a:t>Greedy</a:t>
            </a:r>
            <a:endParaRPr lang="ko-KR" altLang="en-US" sz="360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5588218-A0DD-4A1A-BBC2-D1186C400D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55" y="2279565"/>
            <a:ext cx="7620403" cy="40800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6F134E9-A1E2-44D7-9670-10A2CB47A637}"/>
              </a:ext>
            </a:extLst>
          </p:cNvPr>
          <p:cNvSpPr txBox="1"/>
          <p:nvPr/>
        </p:nvSpPr>
        <p:spPr>
          <a:xfrm>
            <a:off x="297850" y="1486207"/>
            <a:ext cx="5288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Greedy Search – </a:t>
            </a:r>
            <a:r>
              <a:rPr lang="ko-KR" altLang="en-US" dirty="0">
                <a:solidFill>
                  <a:schemeClr val="bg1"/>
                </a:solidFill>
              </a:rPr>
              <a:t>매번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ko-KR" altLang="en-US" dirty="0">
                <a:solidFill>
                  <a:schemeClr val="bg1"/>
                </a:solidFill>
              </a:rPr>
              <a:t>최고의 결과만을 가져간다</a:t>
            </a:r>
            <a:r>
              <a:rPr lang="en-US" altLang="ko-KR" dirty="0">
                <a:solidFill>
                  <a:schemeClr val="bg1"/>
                </a:solidFill>
              </a:rPr>
              <a:t>!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265D93-239F-47E1-8A15-B3F0A3D73FE6}"/>
              </a:ext>
            </a:extLst>
          </p:cNvPr>
          <p:cNvSpPr txBox="1"/>
          <p:nvPr/>
        </p:nvSpPr>
        <p:spPr>
          <a:xfrm>
            <a:off x="7110543" y="4138800"/>
            <a:ext cx="229011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0.16    young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0.60     boy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0.16      is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0.08   jumping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0.28     into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0.45     the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0.51    water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9E7B5C-5EBF-43E7-803B-5C3188535287}"/>
              </a:ext>
            </a:extLst>
          </p:cNvPr>
          <p:cNvSpPr txBox="1"/>
          <p:nvPr/>
        </p:nvSpPr>
        <p:spPr>
          <a:xfrm>
            <a:off x="9664272" y="4143605"/>
            <a:ext cx="229011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0.10     boy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0.99      is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0.99    going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0.99      to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0.99     jump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0.99      into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0.99    water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B1EED6-B328-4261-9B9E-B11DEAD95657}"/>
              </a:ext>
            </a:extLst>
          </p:cNvPr>
          <p:cNvSpPr txBox="1"/>
          <p:nvPr/>
        </p:nvSpPr>
        <p:spPr>
          <a:xfrm>
            <a:off x="7620000" y="3608173"/>
            <a:ext cx="3616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예측</a:t>
            </a:r>
            <a:r>
              <a:rPr lang="en-US" altLang="ko-KR" dirty="0">
                <a:solidFill>
                  <a:schemeClr val="bg1"/>
                </a:solidFill>
              </a:rPr>
              <a:t>1                        </a:t>
            </a:r>
            <a:r>
              <a:rPr lang="ko-KR" altLang="en-US" dirty="0">
                <a:solidFill>
                  <a:schemeClr val="bg1"/>
                </a:solidFill>
              </a:rPr>
              <a:t>예측</a:t>
            </a:r>
            <a:r>
              <a:rPr lang="en-US" altLang="ko-KR" dirty="0">
                <a:solidFill>
                  <a:schemeClr val="bg1"/>
                </a:solidFill>
              </a:rPr>
              <a:t>2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17750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F96B9A-23A8-443B-85AC-CDC4077CD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0338"/>
            <a:ext cx="12192000" cy="1132519"/>
          </a:xfrm>
          <a:solidFill>
            <a:schemeClr val="tx2">
              <a:lumMod val="75000"/>
            </a:schemeClr>
          </a:solidFill>
        </p:spPr>
        <p:txBody>
          <a:bodyPr lIns="288000" tIns="432000">
            <a:normAutofit/>
          </a:bodyPr>
          <a:lstStyle/>
          <a:p>
            <a:r>
              <a:rPr lang="ko-KR" altLang="en-US" sz="3600" dirty="0">
                <a:solidFill>
                  <a:schemeClr val="bg1">
                    <a:lumMod val="95000"/>
                  </a:schemeClr>
                </a:solidFill>
              </a:rPr>
              <a:t>예측 </a:t>
            </a:r>
            <a:r>
              <a:rPr lang="ko-KR" altLang="en-US" sz="2000" dirty="0">
                <a:solidFill>
                  <a:schemeClr val="bg1">
                    <a:lumMod val="95000"/>
                  </a:schemeClr>
                </a:solidFill>
              </a:rPr>
              <a:t>시퀀스 예측 </a:t>
            </a:r>
            <a:r>
              <a:rPr lang="en-US" altLang="ko-KR" sz="2000" dirty="0">
                <a:solidFill>
                  <a:schemeClr val="bg1">
                    <a:lumMod val="95000"/>
                  </a:schemeClr>
                </a:solidFill>
              </a:rPr>
              <a:t>Beam</a:t>
            </a:r>
            <a:endParaRPr lang="ko-KR" altLang="en-US" sz="360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0697C7D-8BC4-4C12-8BD0-9FDC574727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68" y="1107597"/>
            <a:ext cx="5782086" cy="57504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C0A620-D0AF-42EC-BE67-325A809CB8CF}"/>
              </a:ext>
            </a:extLst>
          </p:cNvPr>
          <p:cNvSpPr txBox="1"/>
          <p:nvPr/>
        </p:nvSpPr>
        <p:spPr>
          <a:xfrm>
            <a:off x="6170140" y="1742455"/>
            <a:ext cx="5799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Beam Search – </a:t>
            </a:r>
            <a:r>
              <a:rPr lang="ko-KR" altLang="en-US" dirty="0">
                <a:solidFill>
                  <a:schemeClr val="bg1"/>
                </a:solidFill>
              </a:rPr>
              <a:t>상위 </a:t>
            </a:r>
            <a:r>
              <a:rPr lang="en-US" altLang="ko-KR" dirty="0">
                <a:solidFill>
                  <a:schemeClr val="bg1"/>
                </a:solidFill>
              </a:rPr>
              <a:t>k </a:t>
            </a:r>
            <a:r>
              <a:rPr lang="ko-KR" altLang="en-US" dirty="0">
                <a:solidFill>
                  <a:schemeClr val="bg1"/>
                </a:solidFill>
              </a:rPr>
              <a:t>개의 결과 중 최고를 가져간다</a:t>
            </a:r>
            <a:r>
              <a:rPr lang="en-US" altLang="ko-KR" dirty="0">
                <a:solidFill>
                  <a:schemeClr val="bg1"/>
                </a:solidFill>
              </a:rPr>
              <a:t>!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28A2A8-17AD-4E2D-AB45-22D8BF961073}"/>
              </a:ext>
            </a:extLst>
          </p:cNvPr>
          <p:cNvSpPr txBox="1"/>
          <p:nvPr/>
        </p:nvSpPr>
        <p:spPr>
          <a:xfrm>
            <a:off x="6973330" y="2783848"/>
            <a:ext cx="4205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0.1 the</a:t>
            </a:r>
            <a:r>
              <a:rPr lang="ko-KR" altLang="en-US" dirty="0">
                <a:solidFill>
                  <a:schemeClr val="bg1"/>
                </a:solidFill>
              </a:rPr>
              <a:t>  </a:t>
            </a:r>
            <a:r>
              <a:rPr lang="en-US" altLang="ko-KR" dirty="0">
                <a:solidFill>
                  <a:schemeClr val="bg1"/>
                </a:solidFill>
              </a:rPr>
              <a:t>/</a:t>
            </a:r>
            <a:r>
              <a:rPr lang="ko-KR" altLang="en-US" dirty="0">
                <a:solidFill>
                  <a:schemeClr val="bg1"/>
                </a:solidFill>
              </a:rPr>
              <a:t>  </a:t>
            </a:r>
            <a:r>
              <a:rPr lang="en-US" altLang="ko-KR" dirty="0">
                <a:solidFill>
                  <a:schemeClr val="bg1"/>
                </a:solidFill>
              </a:rPr>
              <a:t>0.2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little</a:t>
            </a:r>
            <a:r>
              <a:rPr lang="ko-KR" altLang="en-US" dirty="0">
                <a:solidFill>
                  <a:schemeClr val="bg1"/>
                </a:solidFill>
              </a:rPr>
              <a:t>  </a:t>
            </a:r>
            <a:r>
              <a:rPr lang="en-US" altLang="ko-KR" dirty="0">
                <a:solidFill>
                  <a:schemeClr val="bg1"/>
                </a:solidFill>
              </a:rPr>
              <a:t>/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0.14 boy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0A9710-8397-4B72-94F2-DBBDD533F4A6}"/>
              </a:ext>
            </a:extLst>
          </p:cNvPr>
          <p:cNvCxnSpPr/>
          <p:nvPr/>
        </p:nvCxnSpPr>
        <p:spPr>
          <a:xfrm flipH="1">
            <a:off x="6612924" y="3153179"/>
            <a:ext cx="601362" cy="401595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DD1E4FF-EABF-4436-8B9A-A43640AFE98E}"/>
              </a:ext>
            </a:extLst>
          </p:cNvPr>
          <p:cNvCxnSpPr/>
          <p:nvPr/>
        </p:nvCxnSpPr>
        <p:spPr>
          <a:xfrm flipH="1">
            <a:off x="7957751" y="3153180"/>
            <a:ext cx="601362" cy="401595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4FE9361F-FD77-480D-A036-1B90FA34CB6C}"/>
              </a:ext>
            </a:extLst>
          </p:cNvPr>
          <p:cNvCxnSpPr/>
          <p:nvPr/>
        </p:nvCxnSpPr>
        <p:spPr>
          <a:xfrm flipH="1">
            <a:off x="9463215" y="3153178"/>
            <a:ext cx="601362" cy="401595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6BE06F9-A40D-4977-9142-376FF6D9A253}"/>
              </a:ext>
            </a:extLst>
          </p:cNvPr>
          <p:cNvCxnSpPr/>
          <p:nvPr/>
        </p:nvCxnSpPr>
        <p:spPr>
          <a:xfrm>
            <a:off x="7280189" y="3153178"/>
            <a:ext cx="313038" cy="401595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4598A8D-0022-499F-8D40-FF1AAB36D989}"/>
              </a:ext>
            </a:extLst>
          </p:cNvPr>
          <p:cNvCxnSpPr/>
          <p:nvPr/>
        </p:nvCxnSpPr>
        <p:spPr>
          <a:xfrm>
            <a:off x="8629135" y="3127089"/>
            <a:ext cx="313038" cy="401595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F06C881-DCBA-4BF4-829E-35CBE00EAAE8}"/>
              </a:ext>
            </a:extLst>
          </p:cNvPr>
          <p:cNvCxnSpPr/>
          <p:nvPr/>
        </p:nvCxnSpPr>
        <p:spPr>
          <a:xfrm>
            <a:off x="10134599" y="3153178"/>
            <a:ext cx="313038" cy="401595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EAF316DB-7636-46A3-B0FA-3FCF4D501140}"/>
              </a:ext>
            </a:extLst>
          </p:cNvPr>
          <p:cNvCxnSpPr/>
          <p:nvPr/>
        </p:nvCxnSpPr>
        <p:spPr>
          <a:xfrm>
            <a:off x="7280189" y="3127088"/>
            <a:ext cx="0" cy="45102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12829300-BE9D-4825-8CDC-34CCF9611AD5}"/>
              </a:ext>
            </a:extLst>
          </p:cNvPr>
          <p:cNvCxnSpPr/>
          <p:nvPr/>
        </p:nvCxnSpPr>
        <p:spPr>
          <a:xfrm>
            <a:off x="10134599" y="3153178"/>
            <a:ext cx="0" cy="45102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FFA22F50-AB67-4B4B-B4F8-7C2C54226BF2}"/>
              </a:ext>
            </a:extLst>
          </p:cNvPr>
          <p:cNvCxnSpPr/>
          <p:nvPr/>
        </p:nvCxnSpPr>
        <p:spPr>
          <a:xfrm>
            <a:off x="8629135" y="3127089"/>
            <a:ext cx="0" cy="45102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748C5A8-39E8-4365-B609-9B0B57093BD2}"/>
              </a:ext>
            </a:extLst>
          </p:cNvPr>
          <p:cNvSpPr txBox="1"/>
          <p:nvPr/>
        </p:nvSpPr>
        <p:spPr>
          <a:xfrm>
            <a:off x="6343135" y="3626166"/>
            <a:ext cx="4712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0.5    0.1  0.2  0.7  0.3 0.1  0.2     0.3  0.4  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82B129-851B-4C57-A2BD-32C425463272}"/>
              </a:ext>
            </a:extLst>
          </p:cNvPr>
          <p:cNvSpPr txBox="1"/>
          <p:nvPr/>
        </p:nvSpPr>
        <p:spPr>
          <a:xfrm>
            <a:off x="6212355" y="4334576"/>
            <a:ext cx="4973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0.6     0.2  0.3  0.9  0.5 0.3  0.34   0.44  0.54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1204CEE-57AC-4CE7-8C90-ED4F0B881538}"/>
              </a:ext>
            </a:extLst>
          </p:cNvPr>
          <p:cNvCxnSpPr/>
          <p:nvPr/>
        </p:nvCxnSpPr>
        <p:spPr>
          <a:xfrm flipH="1">
            <a:off x="6283411" y="3947780"/>
            <a:ext cx="329513" cy="38374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5ECA4FDF-F1DE-43AD-8039-10E0A6F9B699}"/>
              </a:ext>
            </a:extLst>
          </p:cNvPr>
          <p:cNvCxnSpPr/>
          <p:nvPr/>
        </p:nvCxnSpPr>
        <p:spPr>
          <a:xfrm>
            <a:off x="7214286" y="3914139"/>
            <a:ext cx="0" cy="45102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67842AB4-3446-4D01-92DF-0E862D248FC9}"/>
              </a:ext>
            </a:extLst>
          </p:cNvPr>
          <p:cNvCxnSpPr/>
          <p:nvPr/>
        </p:nvCxnSpPr>
        <p:spPr>
          <a:xfrm>
            <a:off x="7663249" y="3914139"/>
            <a:ext cx="0" cy="45102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B847242-55A2-473F-90BB-830EE073D48E}"/>
              </a:ext>
            </a:extLst>
          </p:cNvPr>
          <p:cNvCxnSpPr/>
          <p:nvPr/>
        </p:nvCxnSpPr>
        <p:spPr>
          <a:xfrm>
            <a:off x="8112211" y="3914139"/>
            <a:ext cx="0" cy="45102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76F1C3FA-E5FF-4EA8-B458-34FB1C837F99}"/>
              </a:ext>
            </a:extLst>
          </p:cNvPr>
          <p:cNvCxnSpPr/>
          <p:nvPr/>
        </p:nvCxnSpPr>
        <p:spPr>
          <a:xfrm>
            <a:off x="8559113" y="3880498"/>
            <a:ext cx="0" cy="45102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AF9E5E86-DE15-45A9-9AE9-F0255B0C394B}"/>
              </a:ext>
            </a:extLst>
          </p:cNvPr>
          <p:cNvCxnSpPr/>
          <p:nvPr/>
        </p:nvCxnSpPr>
        <p:spPr>
          <a:xfrm>
            <a:off x="8968946" y="3914139"/>
            <a:ext cx="0" cy="45102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A17CCBCD-299D-4B05-9EE6-77CBBD544B0C}"/>
              </a:ext>
            </a:extLst>
          </p:cNvPr>
          <p:cNvCxnSpPr/>
          <p:nvPr/>
        </p:nvCxnSpPr>
        <p:spPr>
          <a:xfrm>
            <a:off x="9452918" y="3907606"/>
            <a:ext cx="0" cy="45102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8D91176D-C22B-41C9-B300-7C1188CACBF5}"/>
              </a:ext>
            </a:extLst>
          </p:cNvPr>
          <p:cNvCxnSpPr/>
          <p:nvPr/>
        </p:nvCxnSpPr>
        <p:spPr>
          <a:xfrm>
            <a:off x="10134599" y="3907606"/>
            <a:ext cx="0" cy="45102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23AE4B5D-E30F-4763-85AC-237BAD1A0818}"/>
              </a:ext>
            </a:extLst>
          </p:cNvPr>
          <p:cNvCxnSpPr/>
          <p:nvPr/>
        </p:nvCxnSpPr>
        <p:spPr>
          <a:xfrm>
            <a:off x="10659761" y="3914139"/>
            <a:ext cx="0" cy="45102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BB67EB6D-93B5-4B20-87E9-F9FCFC824C3B}"/>
              </a:ext>
            </a:extLst>
          </p:cNvPr>
          <p:cNvSpPr/>
          <p:nvPr/>
        </p:nvSpPr>
        <p:spPr>
          <a:xfrm>
            <a:off x="7875373" y="4356234"/>
            <a:ext cx="469557" cy="36933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C2CE25F2-EDBC-46AA-87C0-DAD4BA520B8D}"/>
              </a:ext>
            </a:extLst>
          </p:cNvPr>
          <p:cNvSpPr/>
          <p:nvPr/>
        </p:nvSpPr>
        <p:spPr>
          <a:xfrm>
            <a:off x="6223682" y="4334576"/>
            <a:ext cx="469557" cy="36933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D32CB9BF-B361-41DE-8B19-15DA0215CCDE}"/>
              </a:ext>
            </a:extLst>
          </p:cNvPr>
          <p:cNvSpPr/>
          <p:nvPr/>
        </p:nvSpPr>
        <p:spPr>
          <a:xfrm>
            <a:off x="10454841" y="4356234"/>
            <a:ext cx="469557" cy="36933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BEADFBF7-C90D-4219-8A05-69CEADD59835}"/>
              </a:ext>
            </a:extLst>
          </p:cNvPr>
          <p:cNvSpPr/>
          <p:nvPr/>
        </p:nvSpPr>
        <p:spPr>
          <a:xfrm>
            <a:off x="6343135" y="3626166"/>
            <a:ext cx="506625" cy="3185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68A2BF20-B192-4E36-8255-D5B5EFE5EC47}"/>
              </a:ext>
            </a:extLst>
          </p:cNvPr>
          <p:cNvSpPr/>
          <p:nvPr/>
        </p:nvSpPr>
        <p:spPr>
          <a:xfrm>
            <a:off x="7870232" y="3620986"/>
            <a:ext cx="506625" cy="3185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E407DB69-8118-45F0-8C9D-2ED583AAA32C}"/>
              </a:ext>
            </a:extLst>
          </p:cNvPr>
          <p:cNvSpPr/>
          <p:nvPr/>
        </p:nvSpPr>
        <p:spPr>
          <a:xfrm>
            <a:off x="10341573" y="3630732"/>
            <a:ext cx="506625" cy="3185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70510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F96B9A-23A8-443B-85AC-CDC4077CD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0338"/>
            <a:ext cx="12192000" cy="1132519"/>
          </a:xfrm>
          <a:solidFill>
            <a:schemeClr val="tx2">
              <a:lumMod val="75000"/>
            </a:schemeClr>
          </a:solidFill>
        </p:spPr>
        <p:txBody>
          <a:bodyPr lIns="288000" tIns="432000">
            <a:normAutofit/>
          </a:bodyPr>
          <a:lstStyle/>
          <a:p>
            <a:r>
              <a:rPr lang="ko-KR" altLang="en-US" sz="3600" dirty="0">
                <a:solidFill>
                  <a:schemeClr val="bg1">
                    <a:lumMod val="95000"/>
                  </a:schemeClr>
                </a:solidFill>
              </a:rPr>
              <a:t>결과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83B06A-E039-4A9C-9410-E3D9C73B6C03}"/>
              </a:ext>
            </a:extLst>
          </p:cNvPr>
          <p:cNvSpPr txBox="1"/>
          <p:nvPr/>
        </p:nvSpPr>
        <p:spPr>
          <a:xfrm>
            <a:off x="2788719" y="1365141"/>
            <a:ext cx="1373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Greedy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5D1C00-E3E8-4336-AB1C-7E71E6D3D7CA}"/>
              </a:ext>
            </a:extLst>
          </p:cNvPr>
          <p:cNvSpPr txBox="1"/>
          <p:nvPr/>
        </p:nvSpPr>
        <p:spPr>
          <a:xfrm>
            <a:off x="7646982" y="1365141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Beam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E53EF8E-DA28-4A79-B285-1AA6E0AD80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606" y="1844631"/>
            <a:ext cx="3693761" cy="470254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6CAD1FB-8D43-4EC5-8BF5-BBF06FC1D8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897" y="1844631"/>
            <a:ext cx="3693760" cy="470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8012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F96B9A-23A8-443B-85AC-CDC4077CD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0338"/>
            <a:ext cx="12192000" cy="1132519"/>
          </a:xfrm>
          <a:solidFill>
            <a:schemeClr val="tx2">
              <a:lumMod val="75000"/>
            </a:schemeClr>
          </a:solidFill>
        </p:spPr>
        <p:txBody>
          <a:bodyPr lIns="288000" tIns="432000">
            <a:normAutofit/>
          </a:bodyPr>
          <a:lstStyle/>
          <a:p>
            <a:r>
              <a:rPr lang="ko-KR" altLang="en-US" sz="3600" dirty="0">
                <a:solidFill>
                  <a:schemeClr val="bg1">
                    <a:lumMod val="95000"/>
                  </a:schemeClr>
                </a:solidFill>
              </a:rPr>
              <a:t>결과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47C1240D-776B-4C41-AA4B-BE331753BE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0909" y="2483942"/>
            <a:ext cx="4630643" cy="331549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225B52A0-8B10-43A5-90F8-E3E2350C57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448" y="2487088"/>
            <a:ext cx="4630645" cy="331235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DC1F208-CD63-4FFE-AAFC-188342900ABA}"/>
              </a:ext>
            </a:extLst>
          </p:cNvPr>
          <p:cNvSpPr txBox="1"/>
          <p:nvPr/>
        </p:nvSpPr>
        <p:spPr>
          <a:xfrm>
            <a:off x="8352951" y="1788362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Beam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89292A-9DCE-4A55-A724-83232300C58E}"/>
              </a:ext>
            </a:extLst>
          </p:cNvPr>
          <p:cNvSpPr txBox="1"/>
          <p:nvPr/>
        </p:nvSpPr>
        <p:spPr>
          <a:xfrm>
            <a:off x="2913860" y="1788362"/>
            <a:ext cx="925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Greedy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49986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F96B9A-23A8-443B-85AC-CDC4077CD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0338"/>
            <a:ext cx="12192000" cy="1132519"/>
          </a:xfrm>
          <a:solidFill>
            <a:schemeClr val="tx2">
              <a:lumMod val="75000"/>
            </a:schemeClr>
          </a:solidFill>
        </p:spPr>
        <p:txBody>
          <a:bodyPr lIns="288000" tIns="432000">
            <a:normAutofit/>
          </a:bodyPr>
          <a:lstStyle/>
          <a:p>
            <a:r>
              <a:rPr lang="ko-KR" altLang="en-US" sz="3600" dirty="0">
                <a:solidFill>
                  <a:schemeClr val="bg1">
                    <a:lumMod val="95000"/>
                  </a:schemeClr>
                </a:solidFill>
              </a:rPr>
              <a:t>결과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04C794F-67B8-4F56-A7A4-7D395D2151D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8" t="2981" r="1752" b="1918"/>
          <a:stretch/>
        </p:blipFill>
        <p:spPr>
          <a:xfrm>
            <a:off x="988376" y="2298147"/>
            <a:ext cx="5046478" cy="384728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838C394-D854-4F1C-B3E3-3A95456A87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1" t="1543" r="1776" b="-1"/>
          <a:stretch/>
        </p:blipFill>
        <p:spPr>
          <a:xfrm>
            <a:off x="6374308" y="2298146"/>
            <a:ext cx="4960097" cy="384727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0F39AE7-D5A3-4208-8B9E-33635C21328D}"/>
              </a:ext>
            </a:extLst>
          </p:cNvPr>
          <p:cNvSpPr txBox="1"/>
          <p:nvPr/>
        </p:nvSpPr>
        <p:spPr>
          <a:xfrm>
            <a:off x="8394377" y="1795349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Beam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A3D693-61CA-44BF-AC8D-BBBB0FF987FF}"/>
              </a:ext>
            </a:extLst>
          </p:cNvPr>
          <p:cNvSpPr txBox="1"/>
          <p:nvPr/>
        </p:nvSpPr>
        <p:spPr>
          <a:xfrm>
            <a:off x="3049020" y="1775084"/>
            <a:ext cx="925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Greedy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3433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1128</TotalTime>
  <Words>1272</Words>
  <Application>Microsoft Office PowerPoint</Application>
  <PresentationFormat>Widescreen</PresentationFormat>
  <Paragraphs>299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맑은 고딕</vt:lpstr>
      <vt:lpstr>Arial</vt:lpstr>
      <vt:lpstr>Office 테마</vt:lpstr>
      <vt:lpstr>Image Caption Generator</vt:lpstr>
      <vt:lpstr>Contents</vt:lpstr>
      <vt:lpstr>주제 소개</vt:lpstr>
      <vt:lpstr>주제</vt:lpstr>
      <vt:lpstr>주제</vt:lpstr>
      <vt:lpstr>사용한 툴</vt:lpstr>
      <vt:lpstr>데이터</vt:lpstr>
      <vt:lpstr>데이터 문자 전처리</vt:lpstr>
      <vt:lpstr>데이터 전체 단어 수 / 문장 길이</vt:lpstr>
      <vt:lpstr>데이터 zero_padding, max_length</vt:lpstr>
      <vt:lpstr>데이터 전체 단어 수 / 문장 길이</vt:lpstr>
      <vt:lpstr>임베딩</vt:lpstr>
      <vt:lpstr>임베딩 GloVe</vt:lpstr>
      <vt:lpstr>임베딩 GloVe</vt:lpstr>
      <vt:lpstr>데이터 </vt:lpstr>
      <vt:lpstr>데이터 이미지 특성찾기</vt:lpstr>
      <vt:lpstr>데이터 전처리 이미지 특성찾기</vt:lpstr>
      <vt:lpstr>데이터</vt:lpstr>
      <vt:lpstr>데이터</vt:lpstr>
      <vt:lpstr>모델</vt:lpstr>
      <vt:lpstr>모델 Summary</vt:lpstr>
      <vt:lpstr>모델  Parameter - Dropout</vt:lpstr>
      <vt:lpstr>모델  Parameter - Concatenate</vt:lpstr>
      <vt:lpstr>모델</vt:lpstr>
      <vt:lpstr>예측</vt:lpstr>
      <vt:lpstr>예측 시퀀스 예측 Greedy</vt:lpstr>
      <vt:lpstr>예측 시퀀스 예측 Beam</vt:lpstr>
      <vt:lpstr>결과</vt:lpstr>
      <vt:lpstr>결과</vt:lpstr>
      <vt:lpstr>결과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Imagecaption Generator</dc:title>
  <dc:creator>Seo DongJae</dc:creator>
  <cp:lastModifiedBy>DongJae Seo</cp:lastModifiedBy>
  <cp:revision>46</cp:revision>
  <dcterms:created xsi:type="dcterms:W3CDTF">2021-02-20T18:23:36Z</dcterms:created>
  <dcterms:modified xsi:type="dcterms:W3CDTF">2025-11-14T08:18:41Z</dcterms:modified>
</cp:coreProperties>
</file>